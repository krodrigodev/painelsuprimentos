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Sheet1!$A$2:$A$6</c:f>
              <c:strCache>
                <c:ptCount val="5"/>
                <c:pt idx="0">
                  <c:v>MCMV</c:v>
                </c:pt>
                <c:pt idx="1">
                  <c:v>PÚBLICA</c:v>
                </c:pt>
                <c:pt idx="2">
                  <c:v>TELESIL MAIS</c:v>
                </c:pt>
                <c:pt idx="3">
                  <c:v>FILIAL SUL</c:v>
                </c:pt>
                <c:pt idx="4">
                  <c:v>GERAL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16663589.13</c:v>
                </c:pt>
                <c:pt idx="1">
                  <c:v>9760485.51</c:v>
                </c:pt>
                <c:pt idx="2">
                  <c:v>8076264.33</c:v>
                </c:pt>
                <c:pt idx="3">
                  <c:v>6232332.34</c:v>
                </c:pt>
                <c:pt idx="4">
                  <c:v>278586.15</c:v>
                </c:pt>
              </c:numCache>
            </c:numRef>
          </c:val>
        </c:ser>
        <c:dLbls>
          <c:numFmt formatCode="&quot;R$&quot; #,##0.0,,&quot; mi&quot;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&quot;R$&quot; #,##0.0,,&quot; mi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Sheet1!$A$2:$A$16</c:f>
              <c:strCache>
                <c:ptCount val="15"/>
                <c:pt idx="0">
                  <c:v>173 - RESIDENCIAL NOVO CRUZEIRO I</c:v>
                </c:pt>
                <c:pt idx="1">
                  <c:v>130 - EDIFICIO SITGES - OBRA</c:v>
                </c:pt>
                <c:pt idx="2">
                  <c:v>224 - NOVA SEDE DA ASSEMBLEIA LEGISLATIVA DE </c:v>
                </c:pt>
                <c:pt idx="3">
                  <c:v>146 - RESIDENCIAL ROSA DA FONSECA I</c:v>
                </c:pt>
                <c:pt idx="4">
                  <c:v>137 - RESERVA DA PRATA - OBRA</c:v>
                </c:pt>
                <c:pt idx="5">
                  <c:v>166 - CONDOMINIO RESERVA ALDEPRIME - OBRA</c:v>
                </c:pt>
                <c:pt idx="6">
                  <c:v>138 - GRAND PLATINUM - OBRA</c:v>
                </c:pt>
                <c:pt idx="7">
                  <c:v>147 - RESIDENCIAL MANOEL ALVES DE FRANÇA I</c:v>
                </c:pt>
                <c:pt idx="8">
                  <c:v>45 - MILAGRES BEACH RESIDENCE</c:v>
                </c:pt>
                <c:pt idx="9">
                  <c:v>175 - RESIDENCIAL MORADA DO TAQUARI - OBRA</c:v>
                </c:pt>
                <c:pt idx="10">
                  <c:v>158 - CONDOMINIO RESERVA DO BOSQUE - OBRA</c:v>
                </c:pt>
                <c:pt idx="11">
                  <c:v>1484 - CMEIS - PARQUE PETRÓPOLIS</c:v>
                </c:pt>
                <c:pt idx="12">
                  <c:v>111 - IMPLANTACAO DO SISTEMA DE ESGOTAMENTO S</c:v>
                </c:pt>
                <c:pt idx="13">
                  <c:v>105 - STELLA MARIS RESIDENCE - OBRA</c:v>
                </c:pt>
                <c:pt idx="14">
                  <c:v>186 - RESIDENCIAL ESTRELA 1 - OBRA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2979477.85</c:v>
                </c:pt>
                <c:pt idx="1">
                  <c:v>2648396.56</c:v>
                </c:pt>
                <c:pt idx="2">
                  <c:v>2625244.77</c:v>
                </c:pt>
                <c:pt idx="3">
                  <c:v>2417576.41</c:v>
                </c:pt>
                <c:pt idx="4">
                  <c:v>2304751.61</c:v>
                </c:pt>
                <c:pt idx="5">
                  <c:v>2205596.87</c:v>
                </c:pt>
                <c:pt idx="6">
                  <c:v>1646584.85</c:v>
                </c:pt>
                <c:pt idx="7">
                  <c:v>1467211.08</c:v>
                </c:pt>
                <c:pt idx="8">
                  <c:v>1458226.15</c:v>
                </c:pt>
                <c:pt idx="9">
                  <c:v>1458151.08</c:v>
                </c:pt>
                <c:pt idx="10">
                  <c:v>1323760.81</c:v>
                </c:pt>
                <c:pt idx="11">
                  <c:v>1289656.98</c:v>
                </c:pt>
                <c:pt idx="12">
                  <c:v>1003669.64</c:v>
                </c:pt>
                <c:pt idx="13">
                  <c:v>951959.71</c:v>
                </c:pt>
                <c:pt idx="14">
                  <c:v>930897.41</c:v>
                </c:pt>
              </c:numCache>
            </c:numRef>
          </c:val>
        </c:ser>
        <c:dLbls>
          <c:numFmt formatCode="&quot;R$&quot; #,##0.0,,&quot; mi&quot;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&quot;R$&quot; #,##0.0,,&quot; mi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Sheet1!$A$2:$A$16</c:f>
              <c:strCache>
                <c:ptCount val="15"/>
                <c:pt idx="0">
                  <c:v>02.018 - INSTALAÇÕES ELÉTRICAS-TELEFÔNICAS</c:v>
                </c:pt>
                <c:pt idx="1">
                  <c:v>02.034 - FERRAGENS</c:v>
                </c:pt>
                <c:pt idx="2">
                  <c:v>02.030 - REVESTIMENTO</c:v>
                </c:pt>
                <c:pt idx="3">
                  <c:v>02.017 - INSTAL.HIDRAULICA</c:v>
                </c:pt>
                <c:pt idx="4">
                  <c:v>02.029 - PRODUTOS METALICOS</c:v>
                </c:pt>
                <c:pt idx="5">
                  <c:v>02.001 - AGREGADOS E AGLOMERANTES</c:v>
                </c:pt>
                <c:pt idx="6">
                  <c:v>02.035 - MOVEIS E UTENSILIOS</c:v>
                </c:pt>
                <c:pt idx="7">
                  <c:v>02.016 - INSTAL. HIDRÁULICA - PVC</c:v>
                </c:pt>
                <c:pt idx="8">
                  <c:v>02.014 - EPI'S e EPC'S</c:v>
                </c:pt>
                <c:pt idx="9">
                  <c:v>02.012 - ESQUADRIAS METALICAS</c:v>
                </c:pt>
                <c:pt idx="10">
                  <c:v>02.019 - LOUÇAS, METAIS E ACESSORIOS</c:v>
                </c:pt>
                <c:pt idx="11">
                  <c:v>02.042 - TINTAS</c:v>
                </c:pt>
                <c:pt idx="12">
                  <c:v>02.005 - ARTEFATOS PREMOLDADOS</c:v>
                </c:pt>
                <c:pt idx="13">
                  <c:v>02.047 - FERRAMENTAS</c:v>
                </c:pt>
                <c:pt idx="14">
                  <c:v>02.048 - INST. AR CONDICIONADO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7714334.51</c:v>
                </c:pt>
                <c:pt idx="1">
                  <c:v>5075553.42</c:v>
                </c:pt>
                <c:pt idx="2">
                  <c:v>3076554.4899999998</c:v>
                </c:pt>
                <c:pt idx="3">
                  <c:v>2518372.76</c:v>
                </c:pt>
                <c:pt idx="4">
                  <c:v>1534885.26</c:v>
                </c:pt>
                <c:pt idx="5">
                  <c:v>1398484.02</c:v>
                </c:pt>
                <c:pt idx="6">
                  <c:v>1321626.66</c:v>
                </c:pt>
                <c:pt idx="7">
                  <c:v>1043281.89</c:v>
                </c:pt>
                <c:pt idx="8">
                  <c:v>1001035.84</c:v>
                </c:pt>
                <c:pt idx="9">
                  <c:v>961094.87</c:v>
                </c:pt>
                <c:pt idx="10">
                  <c:v>955715.87</c:v>
                </c:pt>
                <c:pt idx="11">
                  <c:v>925680.17</c:v>
                </c:pt>
                <c:pt idx="12">
                  <c:v>897033.97</c:v>
                </c:pt>
                <c:pt idx="13">
                  <c:v>816051.19</c:v>
                </c:pt>
                <c:pt idx="14">
                  <c:v>801924.22</c:v>
                </c:pt>
              </c:numCache>
            </c:numRef>
          </c:val>
        </c:ser>
        <c:dLbls>
          <c:numFmt formatCode="&quot;R$&quot; #,##0.0,,&quot; mi&quot;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&quot;R$&quot; #,##0.0,,&quot; mi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Área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TELESIL · SUPRIMENTOS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2103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Estoque de obras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40080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Posição de 13/10/2026 · sem filtros adicionais</a:t>
            </a:r>
          </a:p>
        </p:txBody>
      </p:sp>
      <p:sp>
        <p:nvSpPr>
          <p:cNvPr id="6" name="Destaque 1"/>
          <p:cNvSpPr txBox="1"/>
          <p:nvPr/>
        </p:nvSpPr>
        <p:spPr>
          <a:xfrm>
            <a:off x="64008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R$ 41,01 mi</a:t>
            </a:r>
          </a:p>
        </p:txBody>
      </p:sp>
      <p:sp>
        <p:nvSpPr>
          <p:cNvPr id="7" name="Destaque 1 rótulo"/>
          <p:cNvSpPr txBox="1"/>
          <p:nvPr/>
        </p:nvSpPr>
        <p:spPr>
          <a:xfrm>
            <a:off x="64008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valor em estoque</a:t>
            </a:r>
          </a:p>
        </p:txBody>
      </p:sp>
      <p:sp>
        <p:nvSpPr>
          <p:cNvPr id="8" name="Destaque 2"/>
          <p:cNvSpPr txBox="1"/>
          <p:nvPr/>
        </p:nvSpPr>
        <p:spPr>
          <a:xfrm>
            <a:off x="352044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4.962</a:t>
            </a:r>
          </a:p>
        </p:txBody>
      </p:sp>
      <p:sp>
        <p:nvSpPr>
          <p:cNvPr id="9" name="Destaque 2 rótulo"/>
          <p:cNvSpPr txBox="1"/>
          <p:nvPr/>
        </p:nvSpPr>
        <p:spPr>
          <a:xfrm>
            <a:off x="352044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insumos com saldo</a:t>
            </a:r>
          </a:p>
        </p:txBody>
      </p:sp>
      <p:sp>
        <p:nvSpPr>
          <p:cNvPr id="10" name="Destaque 3"/>
          <p:cNvSpPr txBox="1"/>
          <p:nvPr/>
        </p:nvSpPr>
        <p:spPr>
          <a:xfrm>
            <a:off x="640080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169</a:t>
            </a:r>
          </a:p>
        </p:txBody>
      </p:sp>
      <p:sp>
        <p:nvSpPr>
          <p:cNvPr id="11" name="Destaque 3 rótulo"/>
          <p:cNvSpPr txBox="1"/>
          <p:nvPr/>
        </p:nvSpPr>
        <p:spPr>
          <a:xfrm>
            <a:off x="640080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centros de custo</a:t>
            </a:r>
          </a:p>
        </p:txBody>
      </p:sp>
      <p:sp>
        <p:nvSpPr>
          <p:cNvPr id="12" name="Destaque 4"/>
          <p:cNvSpPr txBox="1"/>
          <p:nvPr/>
        </p:nvSpPr>
        <p:spPr>
          <a:xfrm>
            <a:off x="928116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92%</a:t>
            </a:r>
          </a:p>
        </p:txBody>
      </p:sp>
      <p:sp>
        <p:nvSpPr>
          <p:cNvPr id="13" name="Destaque 4 rótulo"/>
          <p:cNvSpPr txBox="1"/>
          <p:nvPr/>
        </p:nvSpPr>
        <p:spPr>
          <a:xfrm>
            <a:off x="928116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do valor em 20% dos itens</a:t>
            </a:r>
          </a:p>
        </p:txBody>
      </p:sp>
      <p:sp>
        <p:nvSpPr>
          <p:cNvPr id="14" name="Data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Gerado em 13/10/2026 17:51 · fonte: Estoque de obras (Sienge, via RPA)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Visão geral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Estoque de obras · fonte: Estoque de obras (Sienge, via RPA) · gerado em 13/10/2026 17:51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Valor em estoque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R$ 41,01 mi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15.489 itens com saldo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Insumos com saldo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4.962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em 169 centros de custo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Concentração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92%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do valor em 20% dos itens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Abaixo do mínimo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18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0 acima do máximo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Inativos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4.028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1.621 ainda com saldo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10 maiores itens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R$ 3,31 mi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8,1% do valor em estoque</a:t>
            </a:r>
          </a:p>
        </p:txBody>
      </p:sp>
      <p:sp>
        <p:nvSpPr>
          <p:cNvPr id="29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ATENÇÃO: carga incompleta — o RPA trouxe página(s) vazia(s); os valores estão subestimados.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Valor em estoque por segmento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Estoque de obras · fonte: Estoque de obras (Sienge, via RPA) · gerado em 13/10/2026 17:51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3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780257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omentário"/>
          <p:cNvSpPr/>
          <p:nvPr/>
        </p:nvSpPr>
        <p:spPr>
          <a:xfrm>
            <a:off x="8625535" y="1325880"/>
            <a:ext cx="3017520" cy="443484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B365D"/>
                </a:solidFill>
                <a:latin typeface="Calibri"/>
              </a:rPr>
              <a:t>MCMV: 40,6% do valor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5 segmento(s)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R$ 41,01 mi no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Valor por centro de custo (15 maiores)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Estoque de obras · fonte: Estoque de obras (Sienge, via RPA) · gerado em 13/10/2026 17:51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1109441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Valor por grupo de insumo (15 maiores)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Estoque de obras · fonte: Estoque de obras (Sienge, via RPA) · gerado em 13/10/2026 17:51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1109441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Por grupo de insumo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Estoque de obras · fonte: Estoque de obras (Sienge, via RPA) · gerado em 13/10/2026 17:51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2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5675"/>
                <a:gridCol w="1305225"/>
                <a:gridCol w="1305225"/>
                <a:gridCol w="1305225"/>
                <a:gridCol w="1957837"/>
                <a:gridCol w="1305225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Grupo de insumo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Itens com saldo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Insumos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Centros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do valor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02.018 - INSTALAÇÕES ELÉTRICAS-TELEFÔNICAS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2.709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R$ 7.714.334,51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18,81%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02.034 - FERRAGENS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382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R$ 5.075.553,42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12,38%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02.030 - REVESTIMENTO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R$ 3.076.554,49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7,50%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02.017 - INSTAL.HIDRAULICA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1.525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487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R$ 2.518.372,76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6,14%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02.029 - PRODUTOS METALICOS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R$ 1.534.885,26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3,74%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02.001 - AGREGADOS E AGLOMERANTES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R$ 1.398.484,02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3,41%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02.035 - MOVEIS E UTENSILIOS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R$ 1.321.626,66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3,22%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02.016 - INSTAL. HIDRÁULICA - PVC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225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R$ 1.043.281,89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2,54%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02.014 - EPI'S e EPC'S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1.320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R$ 1.001.035,84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2,44%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02.012 - ESQUADRIAS METALICAS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R$ 961.094,87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2,34%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02.019 - LOUÇAS, METAIS E ACESSORIOS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R$ 955.715,87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2,33%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15.489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R$ 41.011.257,46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100,00%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57 linhas (total sobre todas).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Itens de maior valor em estoque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Estoque de obras · fonte: Estoque de obras (Sienge, via RPA) · gerado em 13/10/2026 17:51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1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90"/>
                <a:gridCol w="3698138"/>
                <a:gridCol w="560323"/>
                <a:gridCol w="1120647"/>
                <a:gridCol w="1456842"/>
                <a:gridCol w="1680971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Centro de custo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Insumo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Un.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Quantidade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Custo médio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186 - RESIDENCIAL ESTRELA 1 - O…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6707 - IM -  TELA NERVURADA Q138 2,45 x 6,00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2.074,00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R$ 212,85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R$ 441.449,03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224 - NOVA SEDE DA ASSEMBLEIA L…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9172 - IM - TORRE DE RESFRIAMENTO DE ÁGUA - M…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R$ 220.000,00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R$ 440.000,00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224 - NOVA SEDE DA ASSEMBLEIA L…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10473 - IM - MONO-CORDOALHAS ENGRAXADAS 2 X 1…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kg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39.300,00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R$ 10,74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R$ 422.164,53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130 - EDIFICIO SITGES - OBRA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10376 - IM - PERFIL TUBULAR EPPF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kg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8.626,44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R$ 42,30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R$ 364.898,41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138 - GRAND PLATINUM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6246 - IM - CABO UNIPOLAR 10 MM² PRETO CONDUT…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36.580,00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R$ 9,7900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R$ 358.041,38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173 - RESIDENCIAL NOVO CRUZEIRO…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4702 - IM - PISO CERÂMICA PORTLAND GRAY 53x53…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m²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24.413,28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R$ 13,95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R$ 340.567,70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224 - NOVA SEDE DA ASSEMBLEIA L…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10328 - IM - PISO DE LÂMINAS DE QUARTZO FOSCOS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125,44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R$ 2.360,21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R$ 296.064,38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1541 - CONSORCIO MERCADOS JACIN…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1133 - IM- ISOTELHA / PIR AP 30MM RAL9003 - 0…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und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1.645,81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R$ 134,56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R$ 221.455,52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224 - NOVA SEDE DA ASSEMBLEIA L…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3507 - IM -  CHAPA DE COMPENSADO PLASTIFICADO…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1.100,00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R$ 195,68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R$ 215.249,98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175 - RESIDENCIAL MORADA DO TAQ…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4702 - IM - PISO CERÂMICA PORTLAND GRAY 53x53…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m²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14.971,68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R$ 13,95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R$ 208.856,43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173 - RESIDENCIAL NOVO CRUZEIRO…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8909 - IM - VENEZIANA ALUMÍNIO 150X110 TRÊS F…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R$ 1.037,41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R$ 207.482,34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R$ 41.011.257,46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15489 linhas (total sobre todas).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Mesmo insumo com saldo em várias obras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Estoque de obras · fonte: Estoque de obras (Sienge, via RPA) · gerado em 13/10/2026 17:51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2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770445"/>
                <a:gridCol w="924534"/>
                <a:gridCol w="1540890"/>
                <a:gridCol w="231133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Insumo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Un.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Quantidade total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1370 - IM - Tela  Soldada ARMACAO NEGATIVA 15 X 15 Q61 - 3.4MM - 2,4…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4.254,00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R$ 401.102,59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1043 - IM- Tela  Soldada ARMACAO POSITIVA Q138 - 4.2MM - 2,45 X 6M -…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und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1.210,00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R$ 256.833,37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1371 - IM - Tela  Soldada Q 92 4.2  2,45X6M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1.620,00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R$ 234.168,19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966 - IM - ALMOÇO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und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13.750,00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R$ 217.912,61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1864 - IM - Oleo Diesel 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28.810,03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R$ 213.111,48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3693 - IM - CIMENTO PORTILAND CP II  F 32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5.571,00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R$ 202.035,35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2448 - IM - IM - TELA SOLDADA NERVURADA - Q113 - 2,45 x 6,00m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1.190,00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R$ 200.225,29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8881 - IM - TELA SOLDADA NERVURADA Q238 2,45X6M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un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531,00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R$ 196.275,02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3572 - IM -TAXA DE LICENCIMANETO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vb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135,39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R$ 190.531,08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1069 - CABO DE COBRE / FLEXÍVEL 450/ 750V (NBR 13248) 2,5 MM² -PT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72.695,50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R$ 179.077,94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7440 - IM - ELETRODUTO CORRUGADO 3/4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89.085,00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R$ 169.001,40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R$ 12.318.384,67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1294 linhas (total sobre todas). Candidatos a remanejamento entre obras antes de uma nova compra.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Como ler este relatório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Estoque de obras · fonte: Estoque de obras (Sienge, via RPA) · gerado em 13/10/2026 17:51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9</a:t>
            </a:r>
          </a:p>
        </p:txBody>
      </p:sp>
      <p:sp>
        <p:nvSpPr>
          <p:cNvPr id="5" name="Marcador 1"/>
          <p:cNvSpPr/>
          <p:nvPr/>
        </p:nvSpPr>
        <p:spPr>
          <a:xfrm>
            <a:off x="548640" y="134416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Nota 1"/>
          <p:cNvSpPr txBox="1"/>
          <p:nvPr/>
        </p:nvSpPr>
        <p:spPr>
          <a:xfrm>
            <a:off x="1143000" y="132588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ATENÇÃO: carga incompleta — o RPA trouxe página(s) vazia(s); os valores estão subestimados.</a:t>
            </a:r>
          </a:p>
        </p:txBody>
      </p:sp>
      <p:sp>
        <p:nvSpPr>
          <p:cNvPr id="7" name="Marcador 2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Nota 2"/>
          <p:cNvSpPr txBox="1"/>
          <p:nvPr/>
        </p:nvSpPr>
        <p:spPr>
          <a:xfrm>
            <a:off x="1143000" y="219456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O relatório vem por apropriação; o valor soma as apropriações, a quantidade é o saldo físico (não somado).</a:t>
            </a:r>
          </a:p>
        </p:txBody>
      </p:sp>
      <p:sp>
        <p:nvSpPr>
          <p:cNvPr id="9" name="Marcador 3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Nota 3"/>
          <p:cNvSpPr txBox="1"/>
          <p:nvPr/>
        </p:nvSpPr>
        <p:spPr>
          <a:xfrm>
            <a:off x="1143000" y="306324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Segmento vem do cadastro de centros de custo; analista, da planilha por grupo e tipo de obra.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Suprimentos · Estoque de obras</dc:title>
  <dc:subject/>
  <dc:creator>Painel de Suprimentos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