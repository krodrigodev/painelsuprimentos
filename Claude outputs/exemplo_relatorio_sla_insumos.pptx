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1B365D"/>
            </a:solidFill>
          </c:spPr>
          <c:cat>
            <c:strRef>
              <c:f>Sheet1!$A$2:$A$5</c:f>
              <c:strCache>
                <c:ptCount val="4"/>
                <c:pt idx="0">
                  <c:v>Aprovação da solicitação</c:v>
                </c:pt>
                <c:pt idx="1">
                  <c:v>Compra (fase 1)</c:v>
                </c:pt>
                <c:pt idx="2">
                  <c:v>Autorização do pedido</c:v>
                </c:pt>
                <c:pt idx="3">
                  <c:v>Entrega do fornecedor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6.0</c:v>
                </c:pt>
                <c:pt idx="2">
                  <c:v>1.0</c:v>
                </c:pt>
                <c:pt idx="3">
                  <c:v>10.0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Fase 1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pPr>
              <a:solidFill>
                <a:srgbClr val="2A78D6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jan/26</c:v>
                </c:pt>
                <c:pt idx="1">
                  <c:v>fev/26</c:v>
                </c:pt>
                <c:pt idx="2">
                  <c:v>mar/26</c:v>
                </c:pt>
                <c:pt idx="3">
                  <c:v>abr/26</c:v>
                </c:pt>
                <c:pt idx="4">
                  <c:v>mai/26</c:v>
                </c:pt>
                <c:pt idx="5">
                  <c:v>jun/26</c:v>
                </c:pt>
                <c:pt idx="6">
                  <c:v>jul/26</c:v>
                </c:pt>
                <c:pt idx="7">
                  <c:v>ago/26</c:v>
                </c:pt>
                <c:pt idx="8">
                  <c:v>set/26</c:v>
                </c:pt>
                <c:pt idx="9">
                  <c:v>out/26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43.2</c:v>
                </c:pt>
                <c:pt idx="1">
                  <c:v>43.5</c:v>
                </c:pt>
                <c:pt idx="2">
                  <c:v>53.4</c:v>
                </c:pt>
                <c:pt idx="3">
                  <c:v>62.5</c:v>
                </c:pt>
                <c:pt idx="4">
                  <c:v>59.4</c:v>
                </c:pt>
                <c:pt idx="5">
                  <c:v>62.1</c:v>
                </c:pt>
                <c:pt idx="6">
                  <c:v>65.2</c:v>
                </c:pt>
                <c:pt idx="7">
                  <c:v>79.0</c:v>
                </c:pt>
                <c:pt idx="8">
                  <c:v>85.2</c:v>
                </c:pt>
                <c:pt idx="9">
                  <c:v>96.3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Fase 2</c:v>
                </c:pt>
              </c:strCache>
            </c:strRef>
          </c:tx>
          <c:spPr>
            <a:ln w="31750">
              <a:solidFill>
                <a:srgbClr val="EB6834"/>
              </a:solidFill>
            </a:ln>
          </c:spPr>
          <c:marker>
            <c:spPr>
              <a:solidFill>
                <a:srgbClr val="EB6834"/>
              </a:solidFill>
            </c:spPr>
          </c:marker>
          <c:cat>
            <c:strRef>
              <c:f>Sheet1!$A$2:$A$11</c:f>
              <c:strCache>
                <c:ptCount val="10"/>
                <c:pt idx="0">
                  <c:v>jan/26</c:v>
                </c:pt>
                <c:pt idx="1">
                  <c:v>fev/26</c:v>
                </c:pt>
                <c:pt idx="2">
                  <c:v>mar/26</c:v>
                </c:pt>
                <c:pt idx="3">
                  <c:v>abr/26</c:v>
                </c:pt>
                <c:pt idx="4">
                  <c:v>mai/26</c:v>
                </c:pt>
                <c:pt idx="5">
                  <c:v>jun/26</c:v>
                </c:pt>
                <c:pt idx="6">
                  <c:v>jul/26</c:v>
                </c:pt>
                <c:pt idx="7">
                  <c:v>ago/26</c:v>
                </c:pt>
                <c:pt idx="8">
                  <c:v>set/26</c:v>
                </c:pt>
                <c:pt idx="9">
                  <c:v>out/26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63.8</c:v>
                </c:pt>
                <c:pt idx="1">
                  <c:v>60.5</c:v>
                </c:pt>
                <c:pt idx="2">
                  <c:v>62.2</c:v>
                </c:pt>
                <c:pt idx="3">
                  <c:v>58.2</c:v>
                </c:pt>
                <c:pt idx="4">
                  <c:v>68.7</c:v>
                </c:pt>
                <c:pt idx="5">
                  <c:v>63.6</c:v>
                </c:pt>
                <c:pt idx="6">
                  <c:v>64.1</c:v>
                </c:pt>
                <c:pt idx="7">
                  <c:v>59.2</c:v>
                </c:pt>
                <c:pt idx="8">
                  <c:v>73.6</c:v>
                </c:pt>
                <c:pt idx="9">
                  <c:v>96.2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sz="1000">
                  <a:solidFill>
                    <a:srgbClr val="4A5568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1EA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Área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Calibri"/>
              </a:rPr>
              <a:t>TELESIL · SUPRIMENTOS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40080" y="2103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SLA - Insumos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40080" y="33832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01/01/2026 a 13/10/2026</a:t>
            </a:r>
          </a:p>
        </p:txBody>
      </p:sp>
      <p:sp>
        <p:nvSpPr>
          <p:cNvPr id="6" name="Destaque 1"/>
          <p:cNvSpPr txBox="1"/>
          <p:nvPr/>
        </p:nvSpPr>
        <p:spPr>
          <a:xfrm>
            <a:off x="64008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60,7%</a:t>
            </a:r>
          </a:p>
        </p:txBody>
      </p:sp>
      <p:sp>
        <p:nvSpPr>
          <p:cNvPr id="7" name="Destaque 1 rótulo"/>
          <p:cNvSpPr txBox="1"/>
          <p:nvPr/>
        </p:nvSpPr>
        <p:spPr>
          <a:xfrm>
            <a:off x="64008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no prazo · fase 1</a:t>
            </a:r>
          </a:p>
        </p:txBody>
      </p:sp>
      <p:sp>
        <p:nvSpPr>
          <p:cNvPr id="8" name="Destaque 2"/>
          <p:cNvSpPr txBox="1"/>
          <p:nvPr/>
        </p:nvSpPr>
        <p:spPr>
          <a:xfrm>
            <a:off x="352044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63,2%</a:t>
            </a:r>
          </a:p>
        </p:txBody>
      </p:sp>
      <p:sp>
        <p:nvSpPr>
          <p:cNvPr id="9" name="Destaque 2 rótulo"/>
          <p:cNvSpPr txBox="1"/>
          <p:nvPr/>
        </p:nvSpPr>
        <p:spPr>
          <a:xfrm>
            <a:off x="352044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no prazo · fase 2</a:t>
            </a:r>
          </a:p>
        </p:txBody>
      </p:sp>
      <p:sp>
        <p:nvSpPr>
          <p:cNvPr id="10" name="Destaque 3"/>
          <p:cNvSpPr txBox="1"/>
          <p:nvPr/>
        </p:nvSpPr>
        <p:spPr>
          <a:xfrm>
            <a:off x="640080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11.720</a:t>
            </a:r>
          </a:p>
        </p:txBody>
      </p:sp>
      <p:sp>
        <p:nvSpPr>
          <p:cNvPr id="11" name="Destaque 3 rótulo"/>
          <p:cNvSpPr txBox="1"/>
          <p:nvPr/>
        </p:nvSpPr>
        <p:spPr>
          <a:xfrm>
            <a:off x="640080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vencidos em aberto</a:t>
            </a:r>
          </a:p>
        </p:txBody>
      </p:sp>
      <p:sp>
        <p:nvSpPr>
          <p:cNvPr id="12" name="Destaque 4"/>
          <p:cNvSpPr txBox="1"/>
          <p:nvPr/>
        </p:nvSpPr>
        <p:spPr>
          <a:xfrm>
            <a:off x="9281160" y="46634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52%</a:t>
            </a:r>
          </a:p>
        </p:txBody>
      </p:sp>
      <p:sp>
        <p:nvSpPr>
          <p:cNvPr id="13" name="Destaque 4 rótulo"/>
          <p:cNvSpPr txBox="1"/>
          <p:nvPr/>
        </p:nvSpPr>
        <p:spPr>
          <a:xfrm>
            <a:off x="9281160" y="5212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entregue após a data da obra</a:t>
            </a:r>
          </a:p>
        </p:txBody>
      </p:sp>
      <p:sp>
        <p:nvSpPr>
          <p:cNvPr id="14" name="Data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Gerado em 13/10/2026 21:12 · fonte: Painel de compras do Sienge (via RPA)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Fase 1 · solicitação → pedido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SLA - Insumos · fonte: Painel de compras do Sienge (via RPA) · gerado em 13/10/2026 21:12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2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Itens com SLA mensurável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40.860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34.038 concluídos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atendido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7B6C"/>
                </a:solidFill>
                <a:latin typeface="Cambria"/>
              </a:rPr>
              <a:t>60,7%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24.814 itens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não atendido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16.046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39,3%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Em aberto já vencidos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6.822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111 em risco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Mediana real × prazo médio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6 | 13 d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média 12,6 d · 80% até 20 d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Concluídos no prazo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72,9%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só o que já terminou (critério do Power BI)</a:t>
            </a:r>
          </a:p>
        </p:txBody>
      </p:sp>
      <p:sp>
        <p:nvSpPr>
          <p:cNvPr id="29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Itens em aberto que já passaram do prazo contam como não atendidos.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Fase 2 · pedido → entrega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SLA - Insumos · fonte: Painel de compras do Sienge (via RPA) · gerado em 13/10/2026 21:12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3</a:t>
            </a:r>
          </a:p>
        </p:txBody>
      </p:sp>
      <p:sp>
        <p:nvSpPr>
          <p:cNvPr id="5" name="Cartão 1"/>
          <p:cNvSpPr/>
          <p:nvPr/>
        </p:nvSpPr>
        <p:spPr>
          <a:xfrm>
            <a:off x="548640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1"/>
          <p:cNvSpPr txBox="1"/>
          <p:nvPr/>
        </p:nvSpPr>
        <p:spPr>
          <a:xfrm>
            <a:off x="822960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Itens com SLA mensurável</a:t>
            </a:r>
          </a:p>
        </p:txBody>
      </p:sp>
      <p:sp>
        <p:nvSpPr>
          <p:cNvPr id="7" name="KPI 1 valor"/>
          <p:cNvSpPr txBox="1"/>
          <p:nvPr/>
        </p:nvSpPr>
        <p:spPr>
          <a:xfrm>
            <a:off x="822960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31.318</a:t>
            </a:r>
          </a:p>
        </p:txBody>
      </p:sp>
      <p:sp>
        <p:nvSpPr>
          <p:cNvPr id="8" name="KPI 1 sub"/>
          <p:cNvSpPr txBox="1"/>
          <p:nvPr/>
        </p:nvSpPr>
        <p:spPr>
          <a:xfrm>
            <a:off x="822960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26.420 concluídos</a:t>
            </a:r>
          </a:p>
        </p:txBody>
      </p:sp>
      <p:sp>
        <p:nvSpPr>
          <p:cNvPr id="9" name="Cartão 2"/>
          <p:cNvSpPr/>
          <p:nvPr/>
        </p:nvSpPr>
        <p:spPr>
          <a:xfrm>
            <a:off x="4338218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2"/>
          <p:cNvSpPr txBox="1"/>
          <p:nvPr/>
        </p:nvSpPr>
        <p:spPr>
          <a:xfrm>
            <a:off x="4612538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atendido</a:t>
            </a:r>
          </a:p>
        </p:txBody>
      </p:sp>
      <p:sp>
        <p:nvSpPr>
          <p:cNvPr id="11" name="KPI 2 valor"/>
          <p:cNvSpPr txBox="1"/>
          <p:nvPr/>
        </p:nvSpPr>
        <p:spPr>
          <a:xfrm>
            <a:off x="4612538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F7B6C"/>
                </a:solidFill>
                <a:latin typeface="Cambria"/>
              </a:rPr>
              <a:t>63,2%</a:t>
            </a:r>
          </a:p>
        </p:txBody>
      </p:sp>
      <p:sp>
        <p:nvSpPr>
          <p:cNvPr id="12" name="KPI 2 sub"/>
          <p:cNvSpPr txBox="1"/>
          <p:nvPr/>
        </p:nvSpPr>
        <p:spPr>
          <a:xfrm>
            <a:off x="4612538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19.791 itens</a:t>
            </a:r>
          </a:p>
        </p:txBody>
      </p:sp>
      <p:sp>
        <p:nvSpPr>
          <p:cNvPr id="13" name="Cartão 3"/>
          <p:cNvSpPr/>
          <p:nvPr/>
        </p:nvSpPr>
        <p:spPr>
          <a:xfrm>
            <a:off x="8127796" y="132588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3"/>
          <p:cNvSpPr txBox="1"/>
          <p:nvPr/>
        </p:nvSpPr>
        <p:spPr>
          <a:xfrm>
            <a:off x="8402116" y="155448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SLA não atendido</a:t>
            </a:r>
          </a:p>
        </p:txBody>
      </p:sp>
      <p:sp>
        <p:nvSpPr>
          <p:cNvPr id="15" name="KPI 3 valor"/>
          <p:cNvSpPr txBox="1"/>
          <p:nvPr/>
        </p:nvSpPr>
        <p:spPr>
          <a:xfrm>
            <a:off x="8402116" y="19659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42318"/>
                </a:solidFill>
                <a:latin typeface="Cambria"/>
              </a:rPr>
              <a:t>11.527</a:t>
            </a:r>
          </a:p>
        </p:txBody>
      </p:sp>
      <p:sp>
        <p:nvSpPr>
          <p:cNvPr id="16" name="KPI 3 sub"/>
          <p:cNvSpPr txBox="1"/>
          <p:nvPr/>
        </p:nvSpPr>
        <p:spPr>
          <a:xfrm>
            <a:off x="8402116" y="260604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36,8%</a:t>
            </a:r>
          </a:p>
        </p:txBody>
      </p:sp>
      <p:sp>
        <p:nvSpPr>
          <p:cNvPr id="17" name="Cartão 4"/>
          <p:cNvSpPr/>
          <p:nvPr/>
        </p:nvSpPr>
        <p:spPr>
          <a:xfrm>
            <a:off x="548640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4"/>
          <p:cNvSpPr txBox="1"/>
          <p:nvPr/>
        </p:nvSpPr>
        <p:spPr>
          <a:xfrm>
            <a:off x="822960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Em aberto já vencidos</a:t>
            </a:r>
          </a:p>
        </p:txBody>
      </p:sp>
      <p:sp>
        <p:nvSpPr>
          <p:cNvPr id="19" name="KPI 4 valor"/>
          <p:cNvSpPr txBox="1"/>
          <p:nvPr/>
        </p:nvSpPr>
        <p:spPr>
          <a:xfrm>
            <a:off x="822960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4.898</a:t>
            </a:r>
          </a:p>
        </p:txBody>
      </p:sp>
      <p:sp>
        <p:nvSpPr>
          <p:cNvPr id="20" name="KPI 4 sub"/>
          <p:cNvSpPr txBox="1"/>
          <p:nvPr/>
        </p:nvSpPr>
        <p:spPr>
          <a:xfrm>
            <a:off x="822960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512 em risco</a:t>
            </a:r>
          </a:p>
        </p:txBody>
      </p:sp>
      <p:sp>
        <p:nvSpPr>
          <p:cNvPr id="21" name="Cartão 5"/>
          <p:cNvSpPr/>
          <p:nvPr/>
        </p:nvSpPr>
        <p:spPr>
          <a:xfrm>
            <a:off x="4338218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5"/>
          <p:cNvSpPr txBox="1"/>
          <p:nvPr/>
        </p:nvSpPr>
        <p:spPr>
          <a:xfrm>
            <a:off x="4612538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Mediana real × prazo médio</a:t>
            </a:r>
          </a:p>
        </p:txBody>
      </p:sp>
      <p:sp>
        <p:nvSpPr>
          <p:cNvPr id="23" name="KPI 5 valor"/>
          <p:cNvSpPr txBox="1"/>
          <p:nvPr/>
        </p:nvSpPr>
        <p:spPr>
          <a:xfrm>
            <a:off x="4612538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14 | 27 d</a:t>
            </a:r>
          </a:p>
        </p:txBody>
      </p:sp>
      <p:sp>
        <p:nvSpPr>
          <p:cNvPr id="24" name="KPI 5 sub"/>
          <p:cNvSpPr txBox="1"/>
          <p:nvPr/>
        </p:nvSpPr>
        <p:spPr>
          <a:xfrm>
            <a:off x="4612538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média 19,7 d · 80% até 30 d</a:t>
            </a:r>
          </a:p>
        </p:txBody>
      </p:sp>
      <p:sp>
        <p:nvSpPr>
          <p:cNvPr id="25" name="Cartão 6"/>
          <p:cNvSpPr/>
          <p:nvPr/>
        </p:nvSpPr>
        <p:spPr>
          <a:xfrm>
            <a:off x="8127796" y="3566160"/>
            <a:ext cx="3515258" cy="196596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6"/>
          <p:cNvSpPr txBox="1"/>
          <p:nvPr/>
        </p:nvSpPr>
        <p:spPr>
          <a:xfrm>
            <a:off x="8402116" y="3794760"/>
            <a:ext cx="29666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Concluídos no prazo</a:t>
            </a:r>
          </a:p>
        </p:txBody>
      </p:sp>
      <p:sp>
        <p:nvSpPr>
          <p:cNvPr id="27" name="KPI 6 valor"/>
          <p:cNvSpPr txBox="1"/>
          <p:nvPr/>
        </p:nvSpPr>
        <p:spPr>
          <a:xfrm>
            <a:off x="8402116" y="420624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365D"/>
                </a:solidFill>
                <a:latin typeface="Cambria"/>
              </a:rPr>
              <a:t>74,9%</a:t>
            </a:r>
          </a:p>
        </p:txBody>
      </p:sp>
      <p:sp>
        <p:nvSpPr>
          <p:cNvPr id="28" name="KPI 6 sub"/>
          <p:cNvSpPr txBox="1"/>
          <p:nvPr/>
        </p:nvSpPr>
        <p:spPr>
          <a:xfrm>
            <a:off x="8402116" y="4846320"/>
            <a:ext cx="2966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F6E85"/>
                </a:solidFill>
                <a:latin typeface="Calibri"/>
              </a:rPr>
              <a:t>só o que já terminou (critério do Power BI)</a:t>
            </a:r>
          </a:p>
        </p:txBody>
      </p:sp>
      <p:sp>
        <p:nvSpPr>
          <p:cNvPr id="29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Itens em aberto que já passaram do prazo contam como não atendidos.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Onde o tempo é gasto (mediana de cada etapa, dias)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SLA - Insumos · fonte: Painel de compras do Sienge (via RPA) · gerado em 13/10/2026 21:12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780257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omentário"/>
          <p:cNvSpPr/>
          <p:nvPr/>
        </p:nvSpPr>
        <p:spPr>
          <a:xfrm>
            <a:off x="8625535" y="1325880"/>
            <a:ext cx="3017520" cy="4434840"/>
          </a:xfrm>
          <a:prstGeom prst="roundRect">
            <a:avLst>
              <a:gd name="adj" fmla="val 40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1B365D"/>
                </a:solidFill>
                <a:latin typeface="Calibri"/>
              </a:rPr>
              <a:t>Etapa mais lenta: entrega do fornecedor — mediana 10 dias, 20% dos itens levam 26+ dias.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Maior volume fora do prazo na fase 1 (compra): 02.018 - INSTALAÇÕES ELÉTRICAS-TELEFÔNICAS (58% no prazo em 6406 itens).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Maior volume fora do prazo na fase 2 (entrega): 02.018 - INSTALAÇÕES ELÉTRICAS-TELEFÔNICAS (72% no prazo em 5134 itens).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213D"/>
                </a:solidFill>
                <a:latin typeface="Calibri"/>
              </a:rPr>
              <a:t>Backlog já fora do prazo: 6822 item(ns) sem pedido e 4898 pedido(s) sem entrega completa.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% no prazo por mês da solicitação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SLA - Insumos · fonte: Painel de compras do Sienge (via RPA) · gerado em 13/10/2026 21:12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Gráfico"/>
          <p:cNvGraphicFramePr>
            <a:graphicFrameLocks noGrp="1"/>
          </p:cNvGraphicFramePr>
          <p:nvPr/>
        </p:nvGraphicFramePr>
        <p:xfrm>
          <a:off x="548640" y="1325880"/>
          <a:ext cx="11094415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Por grupo de insumo (mais não atendidos primeiro)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SLA - Insumos · fonte: Painel de compras do Sienge (via RPA) · gerado em 13/10/2026 21:12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09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329"/>
                <a:gridCol w="1027260"/>
                <a:gridCol w="1027260"/>
                <a:gridCol w="1027260"/>
                <a:gridCol w="1027260"/>
                <a:gridCol w="1027260"/>
                <a:gridCol w="1027260"/>
                <a:gridCol w="1027260"/>
                <a:gridCol w="10272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Itens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Med.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Prazo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Pedidos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Med.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Prazo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02.018 - INSTALAÇÕES ELÉTRICAS-TELE…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6.406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58,21%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5.134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71,50%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02.047 - FERRAMENTAS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3.599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54,40%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2.914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54,43%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02.014 - EPI'S e EPC'S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3.538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72,95%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3.093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58,84%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02.016 - INSTAL. HIDRÁULICA - PVC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3.624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70,89%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2.789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78,45%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02.038 - MATERIAL DE LIMPEZA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2.083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65,58%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1.836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51,36%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02.034 - FERRAGENS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1.589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60,73%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1.214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47,36%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02.017 - INSTAL.HIDRAULICA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1.980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67,37%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1.522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74,38%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02.001 - AGREGADOS E AGLOMERANTES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1.082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72,55%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923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29,58%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02.019 - LOUÇAS, METAIS E ACESSORIOS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1.131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35,19%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63,03%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02.029 - PRODUTOS METALICOS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1.170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46,67%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807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68,65%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02.023 - MATERIAL DE ESCRITORIO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1.319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63,38%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1.136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40.860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31.318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63 linhas (total sobre todas).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Por analista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SLA - Insumos · fonte: Painel de compras do Sienge (via RPA) · gerado em 13/10/2026 21:12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08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616"/>
                <a:gridCol w="1180256"/>
                <a:gridCol w="1180256"/>
                <a:gridCol w="1180256"/>
                <a:gridCol w="1180256"/>
                <a:gridCol w="1180256"/>
                <a:gridCol w="1180256"/>
                <a:gridCol w="118025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Analista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Itens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Vencidos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Pedidos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Vencidos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Após data 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Charles Brandao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15.110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63,60%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4.206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10.946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58,88%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2.363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40,25%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Bruno Veloso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11.348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57,09%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490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9.655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61,49%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1.214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53,55%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Roberto Dias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6.121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60,84%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4.867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64,93%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55,46%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Debora Lopes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1.949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59,26%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334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1.434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67,50%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232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55,93%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Vinicius Souza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1.645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66,02%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1.459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68,95%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71,92%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Matheus Amaral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1.554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53,54%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528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817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70,50%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58,98%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Lucas Rodrigues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1.429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51,36%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93,38%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75,67%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Eduardo Costa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1.287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72,57%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1.093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75,30%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77,36%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(sem informação)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62,35%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60,26%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40,45%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40.860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6.822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31.318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4.898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Por comprador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SLA - Insumos · fonte: Painel de compras do Sienge (via RPA) · gerado em 13/10/2026 21:12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08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616"/>
                <a:gridCol w="1180256"/>
                <a:gridCol w="1180256"/>
                <a:gridCol w="1180256"/>
                <a:gridCol w="1180256"/>
                <a:gridCol w="1180256"/>
                <a:gridCol w="1180256"/>
                <a:gridCol w="118025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Comprador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Itens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Vencidos F1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Pedidos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%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Vencidos F2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Após data 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BRUNO VELOSO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6.364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43,76%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5.034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53,32%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59,50%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ROBERTO SEBASTIAO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6.139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52,19%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4.899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58,15%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56,59%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3.229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3.229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MATHEUS AMARAL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2.513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23,16%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1.839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497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37,63%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47,16%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JESSIKA FEITOSA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3.296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96,91%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3.304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56,20%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3,35%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URIEL FERREIRA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1.724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90,20%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2.016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40,03%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649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32,19%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VINICIUS SOUZA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2.212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72,51%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2.158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71,92%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69,07%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SHEYLA CMEIS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1.466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68,35%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1.387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72,89%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97,48%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CHARLES BRANDAO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2.419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89,46%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2.213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78,49%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177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76,97%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DEBORA LOPES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597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28,98%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115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398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38,94%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191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65,38%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JULIA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0,00%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40.860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6.822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31.318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4.898</a:t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42 linhas (total sobre todas).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Em aberto há mais tempo além do prazo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SLA - Insumos · fonte: Painel de compras do Sienge (via RPA) · gerado em 13/10/2026 21:12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2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808967"/>
                <a:gridCol w="3467004"/>
                <a:gridCol w="2311336"/>
                <a:gridCol w="1502368"/>
                <a:gridCol w="115566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Solic.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Insumo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Obra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Comprador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Além do prazo (d)</a:t>
                      </a:r>
                    </a:p>
                  </a:txBody>
                  <a:tcPr marL="73152" marR="73152" marT="27432" marB="27432" anchor="ctr">
                    <a:solidFill>
                      <a:srgbClr val="1B365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73488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3515 - IM - MARTELETE 10KG - LOCAÇÃO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146 - RESIDENCIAL ROSA DA FO…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73552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10684 - AGUA MINERAL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102 - RESERVA DOS PASSAROS -…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JULIA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73548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1227 - IM- Concreto Usinado 25 MPA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1801 -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MATHEUS AMARAL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73551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3693 - IM - CIMENTO PORTILAND CP II F 32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1806 -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MATHEUS AMARAL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1177 - IM- Locação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1801 -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73528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1177 - IM- Locação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1801 -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1864 - IM - Oleo Diesel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154 - CONSORCIO MERCADOS BEN…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JULIA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73541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5104 - MO - SERRA TICO-TICO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1805 -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978 - IM - GASOLINA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154 - CONSORCIO MERCADOS BEN…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JULIA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73536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10063 - DIESEL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133 - CD - PARTE ALTA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JULIA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6F8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 · sem pedido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73530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1177 - IM- Locação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1801 - CONSÓRCIO CRECHES PER…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4213D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a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Mostrando 11 de 11720 linhas (total sobre todas).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213D"/>
                </a:solidFill>
                <a:latin typeface="Cambria"/>
              </a:rPr>
              <a:t>Como ler este relatório</a:t>
            </a:r>
          </a:p>
        </p:txBody>
      </p:sp>
      <p:sp>
        <p:nvSpPr>
          <p:cNvPr id="3" name="Rodapé"/>
          <p:cNvSpPr txBox="1"/>
          <p:nvPr/>
        </p:nvSpPr>
        <p:spPr>
          <a:xfrm>
            <a:off x="548640" y="6446520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E85"/>
                </a:solidFill>
                <a:latin typeface="Calibri"/>
              </a:rPr>
              <a:t>Suprimentos · SLA - Insumos · fonte: Painel de compras do Sienge (via RPA) · gerado em 13/10/2026 21:12</a:t>
            </a:r>
          </a:p>
        </p:txBody>
      </p:sp>
      <p:sp>
        <p:nvSpPr>
          <p:cNvPr id="4" name="Número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F6E85"/>
                </a:solidFill>
                <a:latin typeface="Calibri"/>
              </a:rPr>
              <a:t>10</a:t>
            </a:r>
          </a:p>
        </p:txBody>
      </p:sp>
      <p:sp>
        <p:nvSpPr>
          <p:cNvPr id="5" name="Marcador 1"/>
          <p:cNvSpPr/>
          <p:nvPr/>
        </p:nvSpPr>
        <p:spPr>
          <a:xfrm>
            <a:off x="548640" y="134416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Nota 1"/>
          <p:cNvSpPr txBox="1"/>
          <p:nvPr/>
        </p:nvSpPr>
        <p:spPr>
          <a:xfrm>
            <a:off x="1143000" y="132588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Fase 1 = autorização da solicitação até o 1º pedido do item; fase 2 = pedido até a ÚLTIMA entrega do item.</a:t>
            </a:r>
          </a:p>
        </p:txBody>
      </p:sp>
      <p:sp>
        <p:nvSpPr>
          <p:cNvPr id="7" name="Marcador 2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Nota 2"/>
          <p:cNvSpPr txBox="1"/>
          <p:nvPr/>
        </p:nvSpPr>
        <p:spPr>
          <a:xfrm>
            <a:off x="1143000" y="219456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Prazos por grupo de insumo: planilha de Suprimentos, com as alterações feitas em Configurações no painel.</a:t>
            </a:r>
          </a:p>
        </p:txBody>
      </p:sp>
      <p:sp>
        <p:nvSpPr>
          <p:cNvPr id="9" name="Marcador 3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Nota 3"/>
          <p:cNvSpPr txBox="1"/>
          <p:nvPr/>
        </p:nvSpPr>
        <p:spPr>
          <a:xfrm>
            <a:off x="1143000" y="306324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Dias corridos. 'Em risco' = em aberto perto de estourar o prazo.</a:t>
            </a:r>
          </a:p>
        </p:txBody>
      </p:sp>
      <p:sp>
        <p:nvSpPr>
          <p:cNvPr id="11" name="Marcador 4"/>
          <p:cNvSpPr/>
          <p:nvPr/>
        </p:nvSpPr>
        <p:spPr>
          <a:xfrm>
            <a:off x="548640" y="3950208"/>
            <a:ext cx="384048" cy="384048"/>
          </a:xfrm>
          <a:prstGeom prst="ellipse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Nota 4"/>
          <p:cNvSpPr txBox="1"/>
          <p:nvPr/>
        </p:nvSpPr>
        <p:spPr>
          <a:xfrm>
            <a:off x="1143000" y="3931920"/>
            <a:ext cx="105000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4213D"/>
                </a:solidFill>
                <a:latin typeface="Calibri"/>
              </a:rPr>
              <a:t>Diferenças para o Power BI: aqui cada item conta 1 vez (o Power BI contava 1 vez por nota fiscal) e o backlog vencido aparece.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Suprimentos · SLA - Insumos</dc:title>
  <dc:subject/>
  <dc:creator>Painel de Suprimentos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