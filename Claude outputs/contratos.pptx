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dPt>
            <c:idx val="0"/>
            <c:spPr>
              <a:solidFill>
                <a:srgbClr val="B42318"/>
              </a:solidFill>
            </c:spPr>
          </c:dPt>
          <c:dPt>
            <c:idx val="1"/>
            <c:spPr>
              <a:solidFill>
                <a:srgbClr val="1B365D"/>
              </a:solidFill>
            </c:spPr>
          </c:dPt>
          <c:dPt>
            <c:idx val="2"/>
            <c:spPr>
              <a:solidFill>
                <a:srgbClr val="1B365D"/>
              </a:solidFill>
            </c:spPr>
          </c:dPt>
          <c:dPt>
            <c:idx val="3"/>
            <c:spPr>
              <a:solidFill>
                <a:srgbClr val="1B365D"/>
              </a:solidFill>
            </c:spPr>
          </c:dPt>
          <c:dPt>
            <c:idx val="4"/>
            <c:spPr>
              <a:solidFill>
                <a:srgbClr val="1B365D"/>
              </a:solidFill>
            </c:spPr>
          </c:dPt>
          <c:dPt>
            <c:idx val="5"/>
            <c:spPr>
              <a:solidFill>
                <a:srgbClr val="1B365D"/>
              </a:solidFill>
            </c:spPr>
          </c:dPt>
          <c:dPt>
            <c:idx val="6"/>
            <c:spPr>
              <a:solidFill>
                <a:srgbClr val="1B365D"/>
              </a:solidFill>
            </c:spPr>
          </c:dPt>
          <c:dPt>
            <c:idx val="7"/>
            <c:spPr>
              <a:solidFill>
                <a:srgbClr val="1B365D"/>
              </a:solidFill>
            </c:spPr>
          </c:dPt>
          <c:dPt>
            <c:idx val="8"/>
            <c:spPr>
              <a:solidFill>
                <a:srgbClr val="1B365D"/>
              </a:solidFill>
            </c:spPr>
          </c:dPt>
          <c:dPt>
            <c:idx val="9"/>
            <c:spPr>
              <a:solidFill>
                <a:srgbClr val="1B365D"/>
              </a:solidFill>
            </c:spPr>
          </c:dPt>
          <c:dPt>
            <c:idx val="10"/>
            <c:spPr>
              <a:solidFill>
                <a:srgbClr val="1B365D"/>
              </a:solidFill>
            </c:spPr>
          </c:dPt>
          <c:dPt>
            <c:idx val="11"/>
            <c:spPr>
              <a:solidFill>
                <a:srgbClr val="1B365D"/>
              </a:solidFill>
            </c:spPr>
          </c:dPt>
          <c:dPt>
            <c:idx val="12"/>
            <c:spPr>
              <a:solidFill>
                <a:srgbClr val="1B365D"/>
              </a:solidFill>
            </c:spPr>
          </c:dPt>
          <c:dPt>
            <c:idx val="13"/>
            <c:spPr>
              <a:solidFill>
                <a:srgbClr val="1B365D"/>
              </a:solidFill>
            </c:spPr>
          </c:dPt>
          <c:cat>
            <c:strRef>
              <c:f>Sheet1!$A$2:$A$15</c:f>
              <c:strCache>
                <c:ptCount val="14"/>
                <c:pt idx="0">
                  <c:v>Vencidos</c:v>
                </c:pt>
                <c:pt idx="1">
                  <c:v>10/2026</c:v>
                </c:pt>
                <c:pt idx="2">
                  <c:v>11/2026</c:v>
                </c:pt>
                <c:pt idx="3">
                  <c:v>12/2026</c:v>
                </c:pt>
                <c:pt idx="4">
                  <c:v>01/2027</c:v>
                </c:pt>
                <c:pt idx="5">
                  <c:v>02/2027</c:v>
                </c:pt>
                <c:pt idx="6">
                  <c:v>03/2027</c:v>
                </c:pt>
                <c:pt idx="7">
                  <c:v>04/2027</c:v>
                </c:pt>
                <c:pt idx="8">
                  <c:v>05/2027</c:v>
                </c:pt>
                <c:pt idx="9">
                  <c:v>06/2027</c:v>
                </c:pt>
                <c:pt idx="10">
                  <c:v>07/2027</c:v>
                </c:pt>
                <c:pt idx="11">
                  <c:v>08/2027</c:v>
                </c:pt>
                <c:pt idx="12">
                  <c:v>09/2027</c:v>
                </c:pt>
                <c:pt idx="13">
                  <c:v>Depois / sem data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81595685.76</c:v>
                </c:pt>
                <c:pt idx="1">
                  <c:v>13193238.620000001</c:v>
                </c:pt>
                <c:pt idx="2">
                  <c:v>11102147.82</c:v>
                </c:pt>
                <c:pt idx="3">
                  <c:v>101229841.97</c:v>
                </c:pt>
                <c:pt idx="4">
                  <c:v>10900032.280000001</c:v>
                </c:pt>
                <c:pt idx="5">
                  <c:v>6510598.8999999985</c:v>
                </c:pt>
                <c:pt idx="6">
                  <c:v>10073781.82</c:v>
                </c:pt>
                <c:pt idx="7">
                  <c:v>5426466.069999999</c:v>
                </c:pt>
                <c:pt idx="8">
                  <c:v>2708722.7899999996</c:v>
                </c:pt>
                <c:pt idx="9">
                  <c:v>9260473.86</c:v>
                </c:pt>
                <c:pt idx="10">
                  <c:v>9499764.780000001</c:v>
                </c:pt>
                <c:pt idx="11">
                  <c:v>8962927.99</c:v>
                </c:pt>
                <c:pt idx="12">
                  <c:v>9007208.71</c:v>
                </c:pt>
                <c:pt idx="13">
                  <c:v>32798700.63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Sheet1!$A$2:$A$8</c:f>
              <c:strCache>
                <c:ptCount val="7"/>
                <c:pt idx="0">
                  <c:v>PÚBLICA</c:v>
                </c:pt>
                <c:pt idx="1">
                  <c:v>MCMV</c:v>
                </c:pt>
                <c:pt idx="2">
                  <c:v>FILIAL SUL</c:v>
                </c:pt>
                <c:pt idx="3">
                  <c:v>TELESIL MAIS</c:v>
                </c:pt>
                <c:pt idx="4">
                  <c:v>GERAL</c:v>
                </c:pt>
                <c:pt idx="5">
                  <c:v>VERIFICAR</c:v>
                </c:pt>
                <c:pt idx="6">
                  <c:v>SEM SEGMENTO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122515252.76</c:v>
                </c:pt>
                <c:pt idx="1">
                  <c:v>87210118.84</c:v>
                </c:pt>
                <c:pt idx="2">
                  <c:v>46470257.03</c:v>
                </c:pt>
                <c:pt idx="3">
                  <c:v>38348190.21</c:v>
                </c:pt>
                <c:pt idx="4">
                  <c:v>17371581.16</c:v>
                </c:pt>
                <c:pt idx="5">
                  <c:v>354192.0</c:v>
                </c:pt>
                <c:pt idx="6">
                  <c:v>0.0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Sheet1!$A$2:$A$16</c:f>
              <c:strCache>
                <c:ptCount val="15"/>
                <c:pt idx="0">
                  <c:v>1990 - R B FORTEMIX CONCRETO LTDA</c:v>
                </c:pt>
                <c:pt idx="1">
                  <c:v>251 - BKS IND E COM DE MAQUINAS LTDA</c:v>
                </c:pt>
                <c:pt idx="2">
                  <c:v>17835 - CIA DE ENGENHARIA VAC S/A</c:v>
                </c:pt>
                <c:pt idx="3">
                  <c:v>9528 - LFGN COMERCIO E CONSTRUCOES EIRELI</c:v>
                </c:pt>
                <c:pt idx="4">
                  <c:v>13093 - ECO MAQUINAS E VEICULOS LTDA</c:v>
                </c:pt>
                <c:pt idx="5">
                  <c:v>9239 - SERAL OTIS INDUSTRIA METALURGICA LTDA</c:v>
                </c:pt>
                <c:pt idx="6">
                  <c:v>3815 - ECOPAR ENGENHARIA LTDA.</c:v>
                </c:pt>
                <c:pt idx="7">
                  <c:v>18759 - SUPERMIX CONCRETO S/A</c:v>
                </c:pt>
                <c:pt idx="8">
                  <c:v>9716 - ARCOM-CONSTRUCOES METALICAS LTDA</c:v>
                </c:pt>
                <c:pt idx="9">
                  <c:v>15978 - CONCREARTE SERVICOS DE CONCRETAGENS L</c:v>
                </c:pt>
                <c:pt idx="10">
                  <c:v>6267 - N P ENGENHARIA EIRELI</c:v>
                </c:pt>
                <c:pt idx="11">
                  <c:v>15272 - FORSA BRASIL IMPORTACAO, EXPORTACAO E</c:v>
                </c:pt>
                <c:pt idx="12">
                  <c:v>15818 - STABIL ARGAMASSA E CONCRETO LTDA</c:v>
                </c:pt>
                <c:pt idx="13">
                  <c:v>17215 - THE SALLES CONSTRUCOES EIRELI</c:v>
                </c:pt>
                <c:pt idx="14">
                  <c:v>8027 - MILATEC COMERCIO DE PERFIS LTDA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11008803.46</c:v>
                </c:pt>
                <c:pt idx="1">
                  <c:v>10521464.370000001</c:v>
                </c:pt>
                <c:pt idx="2">
                  <c:v>9522052.13</c:v>
                </c:pt>
                <c:pt idx="3">
                  <c:v>8151173.07</c:v>
                </c:pt>
                <c:pt idx="4">
                  <c:v>7063040.96</c:v>
                </c:pt>
                <c:pt idx="5">
                  <c:v>6141204.49</c:v>
                </c:pt>
                <c:pt idx="6">
                  <c:v>5054054.8</c:v>
                </c:pt>
                <c:pt idx="7">
                  <c:v>4974388.74</c:v>
                </c:pt>
                <c:pt idx="8">
                  <c:v>4899175.79</c:v>
                </c:pt>
                <c:pt idx="9">
                  <c:v>4885524.41</c:v>
                </c:pt>
                <c:pt idx="10">
                  <c:v>4694645.29</c:v>
                </c:pt>
                <c:pt idx="11">
                  <c:v>4560000.0</c:v>
                </c:pt>
                <c:pt idx="12">
                  <c:v>4197796.5</c:v>
                </c:pt>
                <c:pt idx="13">
                  <c:v>3771159.42</c:v>
                </c:pt>
                <c:pt idx="14">
                  <c:v>3585548.2600000002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Sheet1!$A$2:$A$16</c:f>
              <c:strCache>
                <c:ptCount val="15"/>
                <c:pt idx="0">
                  <c:v>224 - NOVA SEDE DA ASSEMBLEIA LEGISLATIVA DE </c:v>
                </c:pt>
                <c:pt idx="1">
                  <c:v>173 - RESIDENCIAL NOVO CRUZEIRO I</c:v>
                </c:pt>
                <c:pt idx="2">
                  <c:v>45 - MILAGRES BEACH RESIDENCE</c:v>
                </c:pt>
                <c:pt idx="3">
                  <c:v>111 - IMPLANTACAO DO SISTEMA DE ESGOTAMENTO S</c:v>
                </c:pt>
                <c:pt idx="4">
                  <c:v>1806 - CONSÓRCIO CRECHES PERNAMBUCO LOTE 06 -</c:v>
                </c:pt>
                <c:pt idx="5">
                  <c:v>186 - RESIDENCIAL ESTRELA 1 - OBRA</c:v>
                </c:pt>
                <c:pt idx="6">
                  <c:v>166 - CONDOMINIO RESERVA ALDEPRIME - OBRA</c:v>
                </c:pt>
                <c:pt idx="7">
                  <c:v>1801 - CONSÓRCIO CRECHES PERNAMBUCO LOTE 01 -</c:v>
                </c:pt>
                <c:pt idx="8">
                  <c:v>140 - GRAND PALAZZO - OBRA</c:v>
                </c:pt>
                <c:pt idx="9">
                  <c:v>120 - CONDOMINIO RESERVA GOLDEN - OBRA</c:v>
                </c:pt>
                <c:pt idx="10">
                  <c:v>23 - ESCRITORIO CENTRAL - NÃO LANÇAR MAIS NAD</c:v>
                </c:pt>
                <c:pt idx="11">
                  <c:v>1805 - CONSÓRCIO CRECHES PERNAMBUCO LOTE 05 -</c:v>
                </c:pt>
                <c:pt idx="12">
                  <c:v>1803 - CONSÓRCIO CRECHES PERNAMBUCO LOTE 03 -</c:v>
                </c:pt>
                <c:pt idx="13">
                  <c:v>1808 - CONSÓRCIO CRECHES PERNAMBUCO LOTE 08 -</c:v>
                </c:pt>
                <c:pt idx="14">
                  <c:v>138 - GRAND PLATINUM - OBRA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28651235.240000002</c:v>
                </c:pt>
                <c:pt idx="1">
                  <c:v>19853041.23</c:v>
                </c:pt>
                <c:pt idx="2">
                  <c:v>15445555.24</c:v>
                </c:pt>
                <c:pt idx="3">
                  <c:v>12749616.87</c:v>
                </c:pt>
                <c:pt idx="4">
                  <c:v>11617272.31</c:v>
                </c:pt>
                <c:pt idx="5">
                  <c:v>11361353.19</c:v>
                </c:pt>
                <c:pt idx="6">
                  <c:v>9680365.73</c:v>
                </c:pt>
                <c:pt idx="7">
                  <c:v>9278388.64</c:v>
                </c:pt>
                <c:pt idx="8">
                  <c:v>9212464.08</c:v>
                </c:pt>
                <c:pt idx="9">
                  <c:v>8907649.57</c:v>
                </c:pt>
                <c:pt idx="10">
                  <c:v>7704328.12</c:v>
                </c:pt>
                <c:pt idx="11">
                  <c:v>7485935.7</c:v>
                </c:pt>
                <c:pt idx="12">
                  <c:v>7401764.33</c:v>
                </c:pt>
                <c:pt idx="13">
                  <c:v>7249459.22</c:v>
                </c:pt>
                <c:pt idx="14">
                  <c:v>6721923.92</c:v>
                </c:pt>
              </c:numCache>
            </c:numRef>
          </c:val>
        </c:ser>
        <c:dLbls>
          <c:numFmt formatCode="&quot;R$&quot; #,##0.0,,&quot; mi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&quot;R$&quot; #,##0.0,,&quot; mi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Área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TELESIL · SUPRIMENTOS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Contratos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sem filtros</a:t>
            </a:r>
          </a:p>
        </p:txBody>
      </p:sp>
      <p:sp>
        <p:nvSpPr>
          <p:cNvPr id="6" name="Destaque 1"/>
          <p:cNvSpPr txBox="1"/>
          <p:nvPr/>
        </p:nvSpPr>
        <p:spPr>
          <a:xfrm>
            <a:off x="64008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9.430</a:t>
            </a:r>
          </a:p>
        </p:txBody>
      </p:sp>
      <p:sp>
        <p:nvSpPr>
          <p:cNvPr id="7" name="Destaque 1 rótulo"/>
          <p:cNvSpPr txBox="1"/>
          <p:nvPr/>
        </p:nvSpPr>
        <p:spPr>
          <a:xfrm>
            <a:off x="64008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contratos</a:t>
            </a:r>
          </a:p>
        </p:txBody>
      </p:sp>
      <p:sp>
        <p:nvSpPr>
          <p:cNvPr id="8" name="Destaque 2"/>
          <p:cNvSpPr txBox="1"/>
          <p:nvPr/>
        </p:nvSpPr>
        <p:spPr>
          <a:xfrm>
            <a:off x="352044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R$ 1.293,08 mi</a:t>
            </a:r>
          </a:p>
        </p:txBody>
      </p:sp>
      <p:sp>
        <p:nvSpPr>
          <p:cNvPr id="9" name="Destaque 2 rótulo"/>
          <p:cNvSpPr txBox="1"/>
          <p:nvPr/>
        </p:nvSpPr>
        <p:spPr>
          <a:xfrm>
            <a:off x="352044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valor contratado</a:t>
            </a:r>
          </a:p>
        </p:txBody>
      </p:sp>
      <p:sp>
        <p:nvSpPr>
          <p:cNvPr id="10" name="Destaque 3"/>
          <p:cNvSpPr txBox="1"/>
          <p:nvPr/>
        </p:nvSpPr>
        <p:spPr>
          <a:xfrm>
            <a:off x="640080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R$ 312,27 mi</a:t>
            </a:r>
          </a:p>
        </p:txBody>
      </p:sp>
      <p:sp>
        <p:nvSpPr>
          <p:cNvPr id="11" name="Destaque 3 rótulo"/>
          <p:cNvSpPr txBox="1"/>
          <p:nvPr/>
        </p:nvSpPr>
        <p:spPr>
          <a:xfrm>
            <a:off x="640080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saldo a medir</a:t>
            </a:r>
          </a:p>
        </p:txBody>
      </p:sp>
      <p:sp>
        <p:nvSpPr>
          <p:cNvPr id="12" name="Destaque 4"/>
          <p:cNvSpPr txBox="1"/>
          <p:nvPr/>
        </p:nvSpPr>
        <p:spPr>
          <a:xfrm>
            <a:off x="928116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1.642</a:t>
            </a:r>
          </a:p>
        </p:txBody>
      </p:sp>
      <p:sp>
        <p:nvSpPr>
          <p:cNvPr id="13" name="Destaque 4 rótulo"/>
          <p:cNvSpPr txBox="1"/>
          <p:nvPr/>
        </p:nvSpPr>
        <p:spPr>
          <a:xfrm>
            <a:off x="928116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vencidos com saldo</a:t>
            </a:r>
          </a:p>
        </p:txBody>
      </p:sp>
      <p:sp>
        <p:nvSpPr>
          <p:cNvPr id="14" name="Data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Gerado em 13/10/2026 19:45 · fonte: Relatório de contratos (Sienge, via RPA)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Visão geral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Contratos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9.430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2.121 fornecedores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Valor contratado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65D"/>
                </a:solidFill>
                <a:latin typeface="Cambria"/>
              </a:rPr>
              <a:t>R$ 1.293,08 mi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medido 57,6%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Saldo a medir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R$ 312,27 mi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4.150 contratos em andamento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Vencidos com saldo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1.642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R$ 81,60 mi a medir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Vencem em breve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121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R$ 19,60 mi a medir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Aguardando autorização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295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R$ 76,25 mi</a:t>
            </a:r>
          </a:p>
        </p:txBody>
      </p:sp>
      <p:sp>
        <p:nvSpPr>
          <p:cNvPr id="29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Saldo a medir = valor − medido dos contratos Pendentes ou Parcialmente medidos.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Saldo a medir por mês de término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780257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mentário"/>
          <p:cNvSpPr/>
          <p:nvPr/>
        </p:nvSpPr>
        <p:spPr>
          <a:xfrm>
            <a:off x="8625535" y="1325880"/>
            <a:ext cx="3017520" cy="443484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B365D"/>
                </a:solidFill>
                <a:latin typeface="Calibri"/>
              </a:rPr>
              <a:t>Vencidos: R$ 81,60 mi em 1.642 contrato(s)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Próximos dias: R$ 19,60 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Saldo a medir por segmento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Maiores saldos a medir — fornecedores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Maiores saldos a medir — obras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Contratos vencidos com saldo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754"/>
                <a:gridCol w="2973760"/>
                <a:gridCol w="2516259"/>
                <a:gridCol w="1029378"/>
                <a:gridCol w="1715631"/>
                <a:gridCol w="171563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Fornecedor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Término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Saldo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CT/1200021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1990 - R B FORTEMIX CONCRETO LTDA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120 - CONDOMINIO RESERVA GOLDE…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R$ 5.229.928,00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R$ 5.229.928,00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CT/1146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9528 - LFGN COMERCIO E CONSTRUCOES E…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45 - MILAGRES BEACH RESIDENCE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R$ 4.141.947,16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R$ 4.141.947,16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CTS/1800021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15978 - CONCREARTE SERVICOS DE CONCR…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PERNA…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19/08/2026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R$ 12.818.742,33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R$ 3.870.125,96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CTS/12120001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16163 - CASSOL E MUTTI CONSULTORES A…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1212 - RESIDENCIAL FIGUEIRAS D…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15/09/2026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R$ 3.168.000,00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R$ 3.068.000,00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CT/493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6267 - N P ENGENHARIA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87 - IMPLANT. PAVIMENT. E DREN…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20/12/2020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R$ 2.600.000,00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R$ 2.365.000,00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CTS/1750007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251 - BKS IND E COM DE MAQUINAS LTDA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175 - RESIDENCIAL MORADA DO TA…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31/12/2025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R$ 1.800.000,00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R$ 1.800.000,00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CTS/1470091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6429 - SUPERPAVER ASFALTOS EIRELI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147 - RESIDENCIAL MANOEL ALVES…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01/07/2026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R$ 1.752.585,38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R$ 1.752.585,38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CT/1130113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9528 - LFGN COMERCIO E CONSTRUCOES E…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113 - GRAND RESERVA - MODULO I…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R$ 2.221.018,93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R$ 1.513.218,93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CT/14830001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1483 - CMEIS - MACEIO I (ANTIG…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R$ 2.000.000,00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R$ 1.486.257,03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CT/14840001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1484 - CMEIS - PARQUE PETRÓPOL…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R$ 2.000.000,00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R$ 1.375.147,53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CT/14860004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9716 - ARCOM-CONSTRUCOES METALICAS L…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1486 - CMEIS - OITICICA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R$ 2.000.000,00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R$ 1.124.043,64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R$ 81.595.685,76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1642 linhas (total sobre todas). Término já passou e ainda há saldo: encerrar, aditar o prazo ou medir.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Por tipo de contrato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1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1219166"/>
                <a:gridCol w="1828749"/>
                <a:gridCol w="1828749"/>
                <a:gridCol w="1828749"/>
                <a:gridCol w="121916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Saldo a medir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medido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Mão de Obra Terceirizada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R$ 216.309.393,27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R$ 117.303.932,31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R$ 69.569.491,90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54,23%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Sem Retenção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2.952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R$ 367.680.075,30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R$ 255.084.499,80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R$ 37.902.982,46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69,38%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Fornecimento de Materiais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R$ 89.642.717,72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R$ 53.220.247,40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R$ 33.196.894,99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59,37%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Fornecimento de Concreto Usinado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R$ 156.513.422,52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R$ 81.706.220,41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R$ 22.713.727,32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52,20%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Fornecimento de Materiais e Mão de Obra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R$ 65.845.638,37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R$ 21.993.442,20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R$ 19.868.708,47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33,40%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Mão de Obra Terceirizada - PJ (Pessoa 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421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R$ 53.306.606,74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R$ 21.490.452,17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R$ 16.154.559,00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40,31%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Aquisição de Formas Metalicas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R$ 25.547.324,37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R$ 8.186.360,00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R$ 15.080.964,37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32,04%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Elaboração de Projetos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R$ 26.360.929,65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R$ 13.811.055,97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R$ 11.467.494,70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52,39%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Fornecimento de Alimentação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R$ 36.637.696,72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R$ 18.275.889,25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R$ 11.396.418,69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49,88%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Locação Equipamentos Pesados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411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R$ 54.774.566,33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R$ 36.644.613,77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R$ 10.979.565,60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66,90%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Serviços de Consultoria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R$ 19.450.909,37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R$ 8.962.277,61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R$ 9.394.654,75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46,08%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9.430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R$ 1.293.078.204,01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R$ 745.308.626,22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R$ 312.269.592,00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57 linhas (total sobre todas).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Como ler este relatório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Contratos · fonte: Relatório de contratos (Sienge, via RPA) · gerado em 13/10/2026 19:45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9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Fonte: relatório de contratos do Sienge exportado pelo RPA e conferido com a linha de total de cada arquivo.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Saldo a medir só existe para contratos em andamento; encerrados mostram o valor não executado (valor − medido).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Obra = 1ª obra do contrato (poucos contratos têm mais de uma).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Suprimentos · Contratos</dc:title>
  <dc:subject/>
  <dc:creator>Painel de Suprimentos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