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Sheet1!$A$2:$A$8</c:f>
              <c:strCache>
                <c:ptCount val="7"/>
                <c:pt idx="0">
                  <c:v>MCMV</c:v>
                </c:pt>
                <c:pt idx="1">
                  <c:v>PÚBLICA</c:v>
                </c:pt>
                <c:pt idx="2">
                  <c:v>TELESIL MAIS</c:v>
                </c:pt>
                <c:pt idx="3">
                  <c:v>FILIAL SUL</c:v>
                </c:pt>
                <c:pt idx="4">
                  <c:v>GERAL</c:v>
                </c:pt>
                <c:pt idx="5">
                  <c:v>VERIFICAR</c:v>
                </c:pt>
                <c:pt idx="6">
                  <c:v>SEM SEGMENTO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634727697.881917</c:v>
                </c:pt>
                <c:pt idx="1">
                  <c:v>323324276.077203</c:v>
                </c:pt>
                <c:pt idx="2">
                  <c:v>95257253.114637</c:v>
                </c:pt>
                <c:pt idx="3">
                  <c:v>61147035.940591</c:v>
                </c:pt>
                <c:pt idx="4">
                  <c:v>231551.8121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dPt>
            <c:idx val="0"/>
            <c:spPr>
              <a:solidFill>
                <a:srgbClr val="B42318"/>
              </a:solidFill>
            </c:spPr>
          </c:dPt>
          <c:dPt>
            <c:idx val="1"/>
            <c:spPr>
              <a:solidFill>
                <a:srgbClr val="B42318"/>
              </a:solidFill>
            </c:spPr>
          </c:dPt>
          <c:dPt>
            <c:idx val="2"/>
            <c:spPr>
              <a:solidFill>
                <a:srgbClr val="B42318"/>
              </a:solidFill>
            </c:spPr>
          </c:dPt>
          <c:dPt>
            <c:idx val="3"/>
            <c:spPr>
              <a:solidFill>
                <a:srgbClr val="1B365D"/>
              </a:solidFill>
            </c:spPr>
          </c:dPt>
          <c:dPt>
            <c:idx val="4"/>
            <c:spPr>
              <a:solidFill>
                <a:srgbClr val="1B365D"/>
              </a:solidFill>
            </c:spPr>
          </c:dPt>
          <c:dPt>
            <c:idx val="5"/>
            <c:spPr>
              <a:solidFill>
                <a:srgbClr val="1B365D"/>
              </a:solidFill>
            </c:spPr>
          </c:dPt>
          <c:dPt>
            <c:idx val="6"/>
            <c:spPr>
              <a:solidFill>
                <a:srgbClr val="1B365D"/>
              </a:solidFill>
            </c:spPr>
          </c:dPt>
          <c:cat>
            <c:strRef>
              <c:f>Sheet1!$A$2:$A$8</c:f>
              <c:strCache>
                <c:ptCount val="7"/>
                <c:pt idx="0">
                  <c:v>MCMV</c:v>
                </c:pt>
                <c:pt idx="1">
                  <c:v>PÚBLICA</c:v>
                </c:pt>
                <c:pt idx="2">
                  <c:v>TELESIL MAIS</c:v>
                </c:pt>
                <c:pt idx="3">
                  <c:v>FILIAL SUL</c:v>
                </c:pt>
                <c:pt idx="4">
                  <c:v>GERAL</c:v>
                </c:pt>
                <c:pt idx="5">
                  <c:v>VERIFICAR</c:v>
                </c:pt>
                <c:pt idx="6">
                  <c:v>SEM SEGMENTO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87210118.84</c:v>
                </c:pt>
                <c:pt idx="1">
                  <c:v>122515252.76</c:v>
                </c:pt>
                <c:pt idx="2">
                  <c:v>38348190.21</c:v>
                </c:pt>
                <c:pt idx="3">
                  <c:v>46470257.03</c:v>
                </c:pt>
                <c:pt idx="4">
                  <c:v>17371581.16</c:v>
                </c:pt>
                <c:pt idx="5">
                  <c:v>354192.0</c:v>
                </c:pt>
                <c:pt idx="6">
                  <c:v>0.0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Área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TELESIL · RELATÓRIO GERAL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Visão geral de Suprimentos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visao_geral</a:t>
            </a:r>
          </a:p>
        </p:txBody>
      </p:sp>
      <p:sp>
        <p:nvSpPr>
          <p:cNvPr id="6" name="Destaque 1"/>
          <p:cNvSpPr txBox="1"/>
          <p:nvPr/>
        </p:nvSpPr>
        <p:spPr>
          <a:xfrm>
            <a:off x="64008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R$ 1.114,69 mi</a:t>
            </a:r>
          </a:p>
        </p:txBody>
      </p:sp>
      <p:sp>
        <p:nvSpPr>
          <p:cNvPr id="7" name="Destaque 1 rótulo"/>
          <p:cNvSpPr txBox="1"/>
          <p:nvPr/>
        </p:nvSpPr>
        <p:spPr>
          <a:xfrm>
            <a:off x="64008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comprado no período</a:t>
            </a:r>
          </a:p>
        </p:txBody>
      </p:sp>
      <p:sp>
        <p:nvSpPr>
          <p:cNvPr id="8" name="Destaque 2"/>
          <p:cNvSpPr txBox="1"/>
          <p:nvPr/>
        </p:nvSpPr>
        <p:spPr>
          <a:xfrm>
            <a:off x="352044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R$ 312,27 mi</a:t>
            </a:r>
          </a:p>
        </p:txBody>
      </p:sp>
      <p:sp>
        <p:nvSpPr>
          <p:cNvPr id="9" name="Destaque 2 rótulo"/>
          <p:cNvSpPr txBox="1"/>
          <p:nvPr/>
        </p:nvSpPr>
        <p:spPr>
          <a:xfrm>
            <a:off x="352044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contratos a medir</a:t>
            </a:r>
          </a:p>
        </p:txBody>
      </p:sp>
      <p:sp>
        <p:nvSpPr>
          <p:cNvPr id="10" name="Destaque 3"/>
          <p:cNvSpPr txBox="1"/>
          <p:nvPr/>
        </p:nvSpPr>
        <p:spPr>
          <a:xfrm>
            <a:off x="640080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R$ 41,01 mi</a:t>
            </a:r>
          </a:p>
        </p:txBody>
      </p:sp>
      <p:sp>
        <p:nvSpPr>
          <p:cNvPr id="11" name="Destaque 3 rótulo"/>
          <p:cNvSpPr txBox="1"/>
          <p:nvPr/>
        </p:nvSpPr>
        <p:spPr>
          <a:xfrm>
            <a:off x="640080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em estoque</a:t>
            </a:r>
          </a:p>
        </p:txBody>
      </p:sp>
      <p:sp>
        <p:nvSpPr>
          <p:cNvPr id="12" name="Destaque 4"/>
          <p:cNvSpPr txBox="1"/>
          <p:nvPr/>
        </p:nvSpPr>
        <p:spPr>
          <a:xfrm>
            <a:off x="928116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61% | 63%</a:t>
            </a:r>
          </a:p>
        </p:txBody>
      </p:sp>
      <p:sp>
        <p:nvSpPr>
          <p:cNvPr id="13" name="Destaque 4 rótulo"/>
          <p:cNvSpPr txBox="1"/>
          <p:nvPr/>
        </p:nvSpPr>
        <p:spPr>
          <a:xfrm>
            <a:off x="928116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SLA compra | entrega</a:t>
            </a:r>
          </a:p>
        </p:txBody>
      </p:sp>
      <p:sp>
        <p:nvSpPr>
          <p:cNvPr id="14" name="Data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Gerado em 13/10/2026 22:11 · fonte: Todas as abas do painel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Sumário executivo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65D"/>
                </a:solidFill>
                <a:latin typeface="Cambria"/>
              </a:rPr>
              <a:t>R$ 1.114,69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R$ 195,98 mi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Contratos: saldo a medir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R$ 312,27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1.642 vencidos (R$ 81,60 mi)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R$ 41,01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4.962 insumos com saldo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no prazo (compra | entrega)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61% | 63%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11.720 itens vencidos em aberto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Serviços em aberto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281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74 aguardando autorização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Adiantamento a abater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R$ 18,86 mi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R$ 9,05 mi há mais de 1 ano</a:t>
            </a:r>
          </a:p>
        </p:txBody>
      </p:sp>
      <p:sp>
        <p:nvSpPr>
          <p:cNvPr id="29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Fornecedores críticos: 11 (08/2026 a 10/2026). Curva ABC 2026: R$ 216,01 mi apropriados. Adiantamentos, avaliação e curva ABC não têm obra/vertical no Sienge: são sempre o total.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Pontos de atenção (1/3)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[ALTA] Contratos: 1.642 contratos com término vencido e R$ 81,60 mi ainda a medir — encerrar, aditar ou medir.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[ALTA] SLA de insumos: 6.822 itens sem pedido e 4.898 pedidos sem entrega completa já passaram do prazo.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[ALTA] Fornecedores: 11 fornecedores críticos (nota até 2,0) em 08/2026 a 10/2026; 7 com compras, R$ 2,35 mi comprados deles.</a:t>
            </a:r>
          </a:p>
        </p:txBody>
      </p:sp>
      <p:sp>
        <p:nvSpPr>
          <p:cNvPr id="11" name="Marcador 4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Nota 4"/>
          <p:cNvSpPr txBox="1"/>
          <p:nvPr/>
        </p:nvSpPr>
        <p:spPr>
          <a:xfrm>
            <a:off x="1143000" y="393192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[ALTA] Dados: Estoque: carga marcada como incompleta (página vazia/faltando)</a:t>
            </a:r>
          </a:p>
        </p:txBody>
      </p:sp>
      <p:sp>
        <p:nvSpPr>
          <p:cNvPr id="13" name="Marcador 5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Nota 5"/>
          <p:cNvSpPr txBox="1"/>
          <p:nvPr/>
        </p:nvSpPr>
        <p:spPr>
          <a:xfrm>
            <a:off x="1143000" y="480060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[MEDIA] SLA de insumos: 52% das entregas completas chegaram depois da data pedida pela obra.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Pontos de atenção (2/3)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4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[MEDIA] Compras: Economia potencial estimada de R$ 195,98 mi em 5.286 oportunidades de negociação (preço acima do comparável).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[MEDIA] Adiantamentos: R$ 9,05 mi de adiantamentos com saldo há mais de 1 ano (total a abater R$ 18,86 mi).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[MEDIA] Serviços: 63 solicitações aguardando autorização além do alerta e 65 em aberto com término previsto vencido.</a:t>
            </a:r>
          </a:p>
        </p:txBody>
      </p:sp>
      <p:sp>
        <p:nvSpPr>
          <p:cNvPr id="11" name="Marcador 4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Nota 4"/>
          <p:cNvSpPr txBox="1"/>
          <p:nvPr/>
        </p:nvSpPr>
        <p:spPr>
          <a:xfrm>
            <a:off x="1143000" y="393192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[MEDIA] Curva ABC: 425 insumos A/B ficaram mais caros em 2026 (efeito preço R$ 6,06 mi, mesmos detalhes).</a:t>
            </a:r>
          </a:p>
        </p:txBody>
      </p:sp>
      <p:sp>
        <p:nvSpPr>
          <p:cNvPr id="13" name="Marcador 5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Nota 5"/>
          <p:cNvSpPr txBox="1"/>
          <p:nvPr/>
        </p:nvSpPr>
        <p:spPr>
          <a:xfrm>
            <a:off x="1143000" y="480060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[BAIXA] Compras: 730 preços atípicos para conferir no pedido (provável erro de unidade/registro).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Pontos de atenção (3/3)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5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[BAIXA] Estoque: 1.621 itens inativos ainda com saldo; 18 abaixo do mínimo.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Atualização das fontes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339"/>
                <a:gridCol w="1799094"/>
                <a:gridCol w="1499245"/>
                <a:gridCol w="449773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Posição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Detalhe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Compras / oportunidades (ETL)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19:20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17:37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incompleta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carga marcada como incompleta (página vazia/faltando)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19:17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SLA (painel de compras)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20:56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Serviços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20:56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Adiantamentos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11:56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Avaliação de fornecedores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12:04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Curva ABC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13/10/2026 12:01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Panorama por vertical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570"/>
                <a:gridCol w="1447097"/>
                <a:gridCol w="1447097"/>
                <a:gridCol w="1447097"/>
                <a:gridCol w="1447097"/>
                <a:gridCol w="1447097"/>
                <a:gridCol w="771785"/>
                <a:gridCol w="771785"/>
                <a:gridCol w="77178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Vertical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MCMV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R$ 634.727.697,88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R$ 99.117.504,39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R$ 16.663.589,13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R$ 87.210.118,84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R$ 23.164.961,58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53,98%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PÚBLICA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R$ 323.324.276,08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R$ 77.828.684,25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R$ 9.760.485,51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R$ 122.515.252,76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R$ 34.655.453,80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62,78%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60,30%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TELESIL MAIS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R$ 95.257.253,11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R$ 11.243.299,07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R$ 8.076.264,33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R$ 38.348.190,21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R$ 14.779.356,66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63,55%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FILIAL SUL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R$ 61.147.035,94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R$ 7.778.289,65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R$ 6.232.332,34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R$ 46.470.257,03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R$ 6.302.651,12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67,54%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73,70%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GERAL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R$ 231.551,81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R$ 13.898,19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R$ 278.586,15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R$ 17.371.581,16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R$ 2.693.262,60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82,23%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57,78%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VERIFICAR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R$ 354.192,00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SEM SEGMENTO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R$ 1.114.687.814,83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R$ 195.981.675,54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R$ 41.011.257,46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R$ 312.269.592,00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R$ 81.595.685,76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Compras no período por vertical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Contratos a medir por vertical (vermelho = parte vencida &gt; 25%)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MCMV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10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R$ 634,73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R$ 99,12 mi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R$ 16,66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99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R$ 87,21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R$ 23,16 mi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54%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61%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2.725 | 111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MCMV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137 - RESERVA DA PRATA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R$ 147.240.195,32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R$ 9.592.589,53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R$ 2.304.751,61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R$ 4.894.178,40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R$ 298.138,59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49,56%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47,27%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120 - CONDOMINIO RESERVA GOL…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R$ 84.543.591,31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R$ 9.314.656,61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R$ 897.048,56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R$ 9.307.511,54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R$ 6.477.765,75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67,23%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70,18%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166 - CONDOMINIO RESERVA DO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R$ 84.084.756,07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R$ 17.687.976,68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R$ 2.205.596,87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R$ 9.680.365,73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R$ 5.090,00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51,52%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146 - RESIDENCIAL ROSA DA FO…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R$ 58.544.620,86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R$ 18.259.817,13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R$ 2.417.576,41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R$ 3.513.595,21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R$ 338.566,10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48,71%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48,42%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147 - RESIDENCIAL MANOEL ALV…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R$ 48.472.866,77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R$ 6.474.011,83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R$ 1.467.211,08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R$ 4.684.047,37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R$ 1.945.021,10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43,61%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140 - GRAND PALAZZO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R$ 40.073.755,55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R$ 12.391.327,69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R$ 925.185,52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R$ 9.212.464,08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R$ 169.685,29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81,80%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86,21%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139 - GRAND PALADIUM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R$ 36.919.632,31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R$ 6.643.335,64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R$ 607.829,70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R$ 3.814.383,56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R$ 25.496,50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29,89%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35,24%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190 - GRAND VIA - OBRA 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R$ 35.038.903,95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R$ 2.733.631,62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R$ 311.711,70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R$ 3.402.759,69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R$ 27.556,87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79,21%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32,39%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138 - GRAND PLATINUM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R$ 28.117.668,99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R$ 3.929.387,92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R$ 1.646.584,85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R$ 6.721.923,92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R$ 480.398,96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30,30%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55,85%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158 - CONDOMINIO RESERVA DO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R$ 25.058.497,03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R$ 5.518.331,14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R$ 1.323.760,81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R$ 5.101.132,82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R$ 106.971,74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29,85%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50,28%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172 - CONSORCIO RESIDENCIAL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R$ 13.271.740,42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R$ 3.827.070,09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R$ 721.888,17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R$ 2.760.003,00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R$ 388.644,60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54,08%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75,52%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R$ 634.727.697,88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R$ 99.117.504,39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R$ 16.663.589,13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R$ 87.210.118,84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R$ 23.164.961,58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99 linhas (total sobre todas).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PÚBLICA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R$ 323,32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R$ 77,83 mi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R$ 9,76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72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R$ 122,52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R$ 34,66 mi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63%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60%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7.136 | 32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PÚBLICA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1806 -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R$ 70.007.696,43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R$ 1.988.388,15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R$ 323.920,73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R$ 11.633.142,31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R$ 2.236.038,96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51,42%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47,91%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1808 -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R$ 68.275.489,24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R$ 36.686.504,43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R$ 381.450,35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R$ 7.249.459,22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R$ 979.652,98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66,38%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54,54%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1807 -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R$ 39.904.265,37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R$ 1.504.912,55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R$ 31.923,43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R$ 4.879.461,47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R$ 970.351,53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44,23%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R$ 26.303.604,76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R$ 23.243.050,51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R$ 116.385,81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R$ 14.806.161,86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R$ 5.102.024,94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52,09%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46,59%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1805 -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R$ 25.833.288,09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R$ 6.657.340,16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R$ 213.499,78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R$ 7.485.935,70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R$ 1.547.757,25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57,60%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53,71%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R$ 21.893.089,66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R$ 2.533.517,21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R$ 2.625.244,77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R$ 28.651.235,24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R$ 390.016,83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91,04%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78,55%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1803 -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R$ 16.869.297,48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R$ 636.440,61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R$ 82.256,50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R$ 7.401.764,33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R$ 1.077.442,49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55,76%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48,77%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1483 - CMEIS - MACEIO I (ANT…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R$ 14.314.106,56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R$ 195.965,05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R$ 342.620,41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R$ 2.166.818,93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R$ 1.914.617,32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56,86%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72,31%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1804 -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R$ 13.719.814,39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R$ 1.207.544,20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R$ 179.353,73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R$ 4.616.978,08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R$ 1.098.193,83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48,75%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154 - CONSORCIO MERCADOS BEN…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R$ 5.333.115,18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R$ 351.595,89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R$ 126.292,24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R$ 876.130,76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R$ 436.572,13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92,52%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85,07%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1541 - CONSORCIO MERCADOS JA…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R$ 4.787.700,66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R$ 981.372,12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R$ 427.370,11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R$ 249.244,23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R$ 1.314,41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86,93%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R$ 323.324.276,08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R$ 77.828.684,25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R$ 9.760.485,51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R$ 122.515.252,76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R$ 34.655.453,80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72 linhas (total sobre todas).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TELESIL MAIS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14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R$ 95,26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R$ 11,24 mi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R$ 8,08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43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R$ 38,35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R$ 14,78 mi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64%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67%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1.129 | 25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TELESIL MAIS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130 - EDIFICIO SITGES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R$ 24.874.412,47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R$ 2.801.822,85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R$ 2.648.396,56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R$ 2.621.069,50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R$ 502.041,72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57,74%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105 - STELLA MARIS RESIDENCE…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R$ 24.662.084,52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R$ 1.099.777,79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R$ 951.959,71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R$ 3.304.498,58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R$ 608.834,13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38,49%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60,70%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125 - EDIFICIO DOM ANTONIO -…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R$ 16.335.216,36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R$ 3.439.959,96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R$ 919.086,17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R$ 1.681.208,57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R$ 183.541,58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44,55%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47,21%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45 - MILAGRES BEACH RESIDENCE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R$ 13.492.825,24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R$ 1.164.267,88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R$ 1.458.226,15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R$ 16.050.377,14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R$ 7.505.915,92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93,79%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74,70%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127 - IVAN TIMÓTEO RESIDENCE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R$ 7.949.441,29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R$ 2.241.718,93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R$ 201.426,07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R$ 4.091.201,04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R$ 51.013,40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79,01%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333 - EDIFICIO EMPRESARIAL 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R$ 4.963.834,48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R$ 282.617,30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R$ 569.686,76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R$ 2.152.158,74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R$ 504.089,67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58,40%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64,97%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141 - LUME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R$ 1.425.255,73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R$ 104.333,74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R$ 309.067,12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R$ 3.800,00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83,64%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82,69%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112 - BOX STUDIO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R$ 1.420.908,43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R$ 106.117,58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R$ 35.476,96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R$ 1.404.711,21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R$ 601.830,03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95,31%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90,18%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3106 - ENTREMARES EMPREENDIM…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R$ 30.714,18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R$ 1.948,25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R$ 4.952,76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R$ 15.363,00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R$ 10.251,00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1105 - STELLA MARIS RESIDENC…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R$ 25.514,32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R$ 44.432,30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R$ 320.050,74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R$ 83.498,36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2045 - MILAGRES BEACH RESIDE…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R$ 21.602,76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R$ 174,75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R$ 8.356,64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R$ 2.020,14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16,67%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R$ 95.257.253,11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R$ 11.243.299,07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R$ 8.076.264,33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R$ 38.348.190,21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R$ 14.779.356,66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43 linhas (total sobre todas).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FILIAL SUL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16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R$ 61,15 mi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R$ 7,78 mi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R$ 6,23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23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R$ 46,47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R$ 6,30 mi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68%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74%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627 | 45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FILIAL SUL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173 - RESIDENCIAL NOVO CRUZE…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R$ 35.880.143,38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R$ 5.520.361,93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R$ 2.979.477,85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R$ 19.890.862,23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R$ 45.111,50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59,82%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68,37%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175 - RESIDENCIAL MORADA DO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R$ 15.134.492,67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R$ 1.090.902,91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R$ 1.458.151,08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R$ 6.701.035,88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R$ 1.800.000,00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66,25%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73,43%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162 - RESIDENCIAL RENASCER -…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R$ 6.172.371,94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R$ 513.859,63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R$ 439.684,08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R$ 1.461.479,48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R$ 4.695,72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62,61%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186 - RESIDENCIAL ESTRELA 1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R$ 2.106.478,61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R$ 637.432,04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R$ 930.897,41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R$ 11.361.353,19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71,78%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78,87%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232 - SINALIZAÇÃO VIÁRIA NA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R$ 1.604.139,91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R$ 6.273,94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R$ 135.835,33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R$ 119.303,00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81,82%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55,56%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198 - RESIDENCIAL RAIZES DO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R$ 147.494,89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R$ 8.730,83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R$ 54.991,10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R$ 839.082,44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67,18%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82,91%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169 - ESCRITORIO - FILIAL SUL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R$ 96.372,23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R$ 728,36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R$ 172.409,74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R$ 1.072.725,11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R$ 454.951,40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97,78%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79,21%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1198 - RESIDENCIAL RAIZES DO…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R$ 2.211,50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R$ 37.293,16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R$ 224.995,10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R$ 13.500,00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87,50%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1175 - RESIDENCIAL MORADA DO…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R$ 1.670,57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R$ 77.662,00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R$ 4.200,00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1186 - RESIDENCIAL ESTRELA 1…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R$ 1.615,90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R$ 6.962,40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R$ 208.013,10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R$ 13.400,00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75,00%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66,67%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164 - ELDORADO DO SUL - RENA…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R$ 44,34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R$ 2.150,00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R$ 61.147.035,94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R$ 7.778.289,65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R$ 6.232.332,34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R$ 46.470.257,03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R$ 6.302.651,12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23 linhas (total sobre todas).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GERAL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18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R$ 231,6 mil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R$ 13,9 mil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R$ 278,6 mil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16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R$ 17,37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R$ 2,69 mi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82%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58%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102 | 6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GERAL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23 - ESCRITORIO CENTRAL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R$ 147.757,39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R$ 694,07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R$ 141.982,65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R$ 7.704.328,12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R$ 1.226.885,91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48,44%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133 - CD - PARTE ALTA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R$ 34.499,50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R$ 12.613,29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R$ 2.690.101,93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R$ 165.063,24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84,11%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62,92%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243 - ESCRITORIO CENTRAL ADM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R$ 34.246,88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R$ 20.003,37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R$ 3.313.185,03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85,71%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9,52%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235 - CD - Distribuição de f…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R$ 14.843,76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R$ 590,83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R$ 2.304.872,00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95,95%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1123 - ESCRITORIO CENTRAL -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R$ 204,29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R$ 5.996,60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77,78%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85,71%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12 - CONCRETEIRA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R$ 741.655,10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R$ 741.655,10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60 - IBIS BUDGET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R$ 383.898,66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R$ 383.898,66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66 - ASSISTENCIA TECNICA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R$ 102.193,93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R$ 136.734,96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R$ 78.954,33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49 - NOVA CENTRAL FORTEMIX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R$ 62.352,72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R$ 62.352,72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40 - IBIS BUDGET - BRAF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R$ 16.400,00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R$ 16.400,00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13 - LOCAÇÕES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R$ 14.100,00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R$ 14.100,00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R$ 231.551,81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R$ 13.898,19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R$ 278.586,15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R$ 17.371.581,16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R$ 2.693.262,60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16 linhas (total sobre todas).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VERIFICAR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20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R$ 0,00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R$ 0,00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R$ 0,00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5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R$ 354,2 mil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R$ 0,00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0%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—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1 | 0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VERIFICAR — obras (maiores compras)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38"/>
                <a:gridCol w="1331329"/>
                <a:gridCol w="1331329"/>
                <a:gridCol w="1331329"/>
                <a:gridCol w="1331329"/>
                <a:gridCol w="1331329"/>
                <a:gridCol w="710042"/>
                <a:gridCol w="710042"/>
                <a:gridCol w="71004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Estoque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…vencidos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compra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SLA entrega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Serv. abertos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4239 - CONDOMÍNIO GRAND ROYA…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R$ 211.485,00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4242 - RESIDENCIAL RESERVA 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R$ 82.807,00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4240 - RESIDENCIAL MATA DO 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R$ 39.900,00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1232 - SINALIZAÇÃO VIÁRIA NA…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240 - RESIDENCIAL MATA DO RO…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R$ 354.192,00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R$ 0,00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Vertical SEM SEGMENTO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Compras no período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R$ 0,00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economia potencial R$ 0,00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Estoque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R$ 0,00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0 obra(s) com movimento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R$ 0,00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vencidos R$ 0,00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compra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—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entrega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—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no prazo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vencidos | serviços em aberto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0 | 62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SLA de insumos | serviços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Compras: maiores oportunidades de negociação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7744"/>
                <a:gridCol w="2411829"/>
                <a:gridCol w="2411829"/>
                <a:gridCol w="844140"/>
                <a:gridCol w="180887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Fornecedor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Dif.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Economia pot.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Bloco Cerâmico (Tijolo) 8 Furos 09x19x19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 &amp; G DE FRANCA CERAMICA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74,06%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R$ 22.464.436,00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ARGAMASSA AC II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F. DE A. S. BARBOSA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62,78%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R$ 15.473.729,70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ARGAMASSA COLANTE AC 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MASSA PRONTA PRODUTOS E SERVI…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CONDOMINIO RESERVA DO ALDEBAR…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65,85%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R$ 12.942.772,68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Bloco Cerâmico (Tijolo) 8 Furos 09x19x19 cm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SERGIO CAMILO DA SILVA COMERC…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36,24%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R$ 10.119.984,00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Espaçador - DISTANCIADOR 12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F. DE A. S. BARBOSA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19,54%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R$ 6.358.078,80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ESPAÇADOR PARA CERÂMICA - 2MM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RESSEG DISTRIBUIDORA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CONDOMINIO RESERVA GOLDEN - O…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17,93%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R$ 6.020.071,20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Bloco Cerâmico (Tijolo) 8 Furos 09x19x19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 T DA SILVA 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43,45%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R$ 6.002.270,19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ANEL DE VEDACÃO PARA ESGOTO DN 50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TIGRE MATERIAIS E SOLUCOES PA…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RESIDENCIAL ROSA DA FONSECA 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27,77%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R$ 4.793.095,65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ARGAMASSA AC 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CASA FORTE INDÚSTRIA DE ARGAM…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CONDOMINIO RESERVA DO BOSQUE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R$ 4.323.046,15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Oleo Diesel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AUTO POSTO TREVO DO FRANCES 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RESIDENCIAL ROSA DA FONSECA 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21,88%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R$ 3.087.446,99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ARGAMASSA AC 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SUPREME INDUSTRIAS DE ARGAMAS…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RESIDENCIAL ROSA DA FONSECA 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129,38%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R$ 2.843.288,00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R$ 195.981.675,54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2730 linhas (total sobre todas). Estimativa: (preço − referência comparável) × volume. Não é economia negociada.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Contratos: vencidos com saldo a medir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80"/>
                <a:gridCol w="3287234"/>
                <a:gridCol w="3013297"/>
                <a:gridCol w="1369680"/>
                <a:gridCol w="205452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Fornecedor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Término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Saldo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CT/1200021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1990 - R B FORTEMIX CONCRETO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120 - CONDOMINIO RESERVA GOLDEN - OB…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R$ 5.229.928,00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CT/1146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9528 - LFGN COMERCIO E CONSTRUCOES EIRELI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45 - MILAGRES BEACH RESIDENCE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R$ 4.141.947,16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CTS/1800021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15978 - CONCREARTE SERVICOS DE CONCRETAG…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PERNAMBUCO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19/08/2026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R$ 3.870.125,96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CTS/12120001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16163 - CASSOL E MUTTI CONSULTORES ASSOC…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1212 - RESIDENCIAL FIGUEIRAS DO SUL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15/09/2026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R$ 3.068.000,00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CT/493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6267 - N P ENGENHARIA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87 - IMPLANT. PAVIMENT. E DRENAGEM D…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20/12/2020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R$ 2.365.000,00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CTS/1750007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251 - BKS IND E COM DE MAQUINAS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175 - RESIDENCIAL MORADA DO TAQUARI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R$ 1.800.000,00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CTS/1470091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6429 - SUPERPAVER ASFALTOS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147 - RESIDENCIAL MANOEL ALVES DE FR…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01/07/2026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R$ 1.752.585,38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CT/1130113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9528 - LFGN COMERCIO E CONSTRUCOES EIRELI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113 - GRAND RESERVA - MODULO I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R$ 1.513.218,93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CT/14830001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1483 - CMEIS - MACEIO I (ANTIGO JARD…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R$ 1.486.257,03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CT/14840001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1484 - CMEIS - PARQUE PETRÓPOLIS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R$ 1.375.147,53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CT/14860004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1486 - CMEIS - OITICICA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R$ 1.124.043,64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R$ 81.595.685,76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1642 linhas (total sobre todas).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SLA de insumos por tipo de grupo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012"/>
                <a:gridCol w="1205914"/>
                <a:gridCol w="1205914"/>
                <a:gridCol w="1205914"/>
                <a:gridCol w="1205914"/>
                <a:gridCol w="1205914"/>
                <a:gridCol w="1205914"/>
                <a:gridCol w="120591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Pedidos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Após data 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Material de Consumo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37.527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5.447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29.578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4.684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51,34%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Outros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2.004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44,66%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1.031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73,93%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38,28%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Equipamento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37,96%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97,11%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Material de Expediente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61,79%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72,73%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64,48%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Mão de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41,74%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71,11%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74,29%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Combustíveis e Lubrificantes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38,24%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40.860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6.822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31.318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4.898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Etapa mais lenta: entrega do fornecedor — mediana 10 dias, 20% dos itens levam 26+ dias. · Maior volume fora do prazo na fase 1 (compra): 02.018 - INSTALAÇÕES ELÉTRICAS-TELEFÔNICAS (58% no prazo em 6406 itens).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Serviços: pendências por obra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2610"/>
                <a:gridCol w="1422360"/>
                <a:gridCol w="1422360"/>
                <a:gridCol w="1422360"/>
                <a:gridCol w="1422360"/>
                <a:gridCol w="14223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Solicitado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atendido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Aguard. aut.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Término vencido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(sem obra)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LEGISLATIVA DE ALAG…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76,19%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139 - GRAND PALADIUM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69,84%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166 - CONDOMINIO RESERVA ALDEPRIME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84,16%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137 - RESERVA DA PRATA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81,40%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173 - RESIDENCIAL NOVO CRUZEIRO 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73,21%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146 - RESIDENCIAL ROSA DA FONSECA 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83,95%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162 - RESIDENCIAL RENASCER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56,67%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130 - EDIFICIO SITGES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64,29%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120 - CONDOMINIO RESERVA GOLDEN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90,24%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147 - RESIDENCIAL MANOEL ALVES DE FRANÇA 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87,93%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1.649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58 linhas (total sobre todas).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Estoque: centros de custo com mais valor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499"/>
                <a:gridCol w="1706833"/>
                <a:gridCol w="2560249"/>
                <a:gridCol w="1706833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Centro de custo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do 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173 - RESIDENCIAL NOVO CRUZEIRO 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R$ 2.979.477,85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7,27%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130 - EDIFICIO SITGES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795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R$ 2.648.396,56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6,46%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224 - NOVA SEDE DA ASSEMBLEIA LEGISLATIVA DE ALAGOAS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R$ 2.625.244,77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6,40%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146 - RESIDENCIAL ROSA DA FONSECA 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R$ 2.417.576,41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5,89%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137 - RESERVA DA PRATA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R$ 2.304.751,61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5,62%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166 - CONDOMINIO RESERVA ALDEPRIME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R$ 2.205.596,87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5,38%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138 - GRAND PLATINUM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R$ 1.646.584,85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4,01%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147 - RESIDENCIAL MANOEL ALVES DE FRANÇA I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R$ 1.467.211,08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3,58%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45 - MILAGRES BEACH RESIDENCE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R$ 1.458.226,15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175 - RESIDENCIAL MORADA DO TAQUARI - OBRA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R$ 1.458.151,08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3,56%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158 - CONDOMINIO RESERVA DO BOSQUE -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R$ 1.323.760,81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3,23%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15.489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R$ 41.011.257,46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100,00%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169 linhas (total sobre todas).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Adiantamentos: credores com maior saldo a abater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9374"/>
                <a:gridCol w="875874"/>
                <a:gridCol w="2189687"/>
                <a:gridCol w="2189687"/>
                <a:gridCol w="145979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Docs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Adiantado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Saldo a abater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Maior idade (d)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BKS IND E COM DE MAQUINAS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R$ 8.208.462,50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R$ 4.245.887,50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2.807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MILATEC COMERCIO DE PERFIS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R$ 3.725.544,00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R$ 1.583.366,00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1.142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TOP MIX METAIS &amp; ESQUADRIAS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R$ 1.250.025,00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R$ 1.250.025,00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METRO MODULAR ENGENHARIA DE FORMAS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R$ 955.350,00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R$ 955.350,00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SERAL OTIS INDUSTRIA METALURGICA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R$ 2.014.355,28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R$ 948.367,94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DAIKIN MCQUAY AR CONDICIONADO BRASIL LTDA.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R$ 894.923,59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R$ 894.923,59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ALTO PADRAO COMERCIO E SERVICO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R$ 1.161.925,00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R$ 741.919,24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DIPAWA NORDESTE INDUSTRIA COMERCIO E CONSTRUTORA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R$ 1.217.401,40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R$ 726.144,40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MADEBRAS ATACADO DE MADEIRAS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R$ 2.911.500,00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R$ 713.010,00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3.872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KMC - CONSULTORIA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R$ 544.051,20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R$ 544.051,20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INDUSTRIAL MADEIRAS DO BRASIL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R$ 555.037,16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R$ 497.587,16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1.261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R$ 18.861.298,43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129 linhas (total sobre todas).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Fornecedores críticos (08/2026 a 10/2026)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269"/>
                <a:gridCol w="1091253"/>
                <a:gridCol w="1818756"/>
                <a:gridCol w="272813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Fornecedor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Nota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Avaliações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Comprado (pedidos)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7495 - COMERCIAL TUBOSAN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R$ 61.350,77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141 - ALUMIFER ALUMINIO E FERRO LTDA.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R$ 269.421,70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18065 - MS REFEICOES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R$ 1.018.778,50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897 - INSTITUTO DO MEIO AMBIENTE DE ALAGOAS- IMA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16909 - MKLEIN LOCACAO E TRANSPORTE LTDA.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6631 - EGIDE GESTÃO E PROTEÇÃO PATRIMONIAL DE EMPRESAS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6953 - ANTONIO GOMES JUNIOR ATELIE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R$ 770.614,86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8502 - LITORAL MADEIRAS E CONSTRUCAO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R$ 182.222,93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7231 - UNIVERSAL CONSTRUCOES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R$ 43.881,97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1588 - SAINT-GOBAIN CANALIZACAO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9547 - COMERCIAL GUIFERRO COMERCIO E CONSTRUCAO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R$ 3.489,42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R$ 2.349.760,15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Curva ABC 2026: insumos A/B que mais encareceram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1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584"/>
                <a:gridCol w="749622"/>
                <a:gridCol w="2248867"/>
                <a:gridCol w="1049471"/>
                <a:gridCol w="2248867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Insumo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Classe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no ano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Var. preço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Efeito preço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2448 - IM - IM - TELA SOLDADA NERVURADA - Q113 - 2,45 x 6,0…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R$ 3.741.206,38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13,41%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R$ 442.312,53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3693 - IM - CIMENTO PORTILAND CP II F 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R$ 2.443.153,16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12,58%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R$ 272.968,02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86 - IM - AREIA FINA NBR-7211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R$ 618.418,92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58,87%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R$ 229.152,79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1676 - IM - Bloco De Gesso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R$ 1.143.685,01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24,34%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R$ 223.914,04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2346 - IM - BRITA GRADUADA SIMPLES (BGS)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R$ 2.636.163,94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8,79%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R$ 212.953,57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1829 - IM - Bloco Intertravado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R$ 1.956.029,56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16,19%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R$ 170.622,73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1069 - CABO DE COBRE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R$ 694.035,76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23,47%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R$ 131.663,27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1405 - IM - Vergalhão de Aço CA-50 10,0 mm - NBR-7480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R$ 394.709,23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44,97%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R$ 122.445,99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10583 - CABO FLEXIVEL (NBR 7288)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R$ 902.765,62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18,97%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R$ 120.501,51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257 - IM - Tubo de PVCS 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R$ 421.144,08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30,39%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R$ 98.145,95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868 - IM - Painel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R$ 297.539,30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R$ 96.781,13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R$ 6.064.924,21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425 linhas (total sobre todas).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Como ler este relatório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Relatório geral · Visão geral de Suprimentos · fonte: Todas as abas do painel · gerado em 13/10/2026 22:11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31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Os números são os mesmos das abas do painel, com os filtros e o escopo de acesso de quem gerou.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Vertical e obra filtram compras, oportunidades, estoque, contratos, SLA e serviços; adiantamentos, avaliação e curva ABC não têm obra no Sienge e entram sempre no total.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Período vale para compras, SLA e serviços; estoque e saldos são a posição da última carga (ver Fontes).</a:t>
            </a:r>
          </a:p>
        </p:txBody>
      </p:sp>
      <p:sp>
        <p:nvSpPr>
          <p:cNvPr id="11" name="Marcador 4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Nota 4"/>
          <p:cNvSpPr txBox="1"/>
          <p:nvPr/>
        </p:nvSpPr>
        <p:spPr>
          <a:xfrm>
            <a:off x="1143000" y="393192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Economia potencial é estimativa; SLA conta o backlog vencido conforme Configurações.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geral · Visão geral de Suprimentos</dc:title>
  <dc:subject/>
  <dc:creator>Painel de Suprimentos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